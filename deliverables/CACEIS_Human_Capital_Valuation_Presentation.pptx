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6324F"/>
                </a:solidFill>
                <a:latin typeface="Aptos Display"/>
              </a:rPr>
              <a:t>CACEIS Human Capital 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6D7A"/>
                </a:solidFill>
                <a:latin typeface="Aptos"/>
              </a:rPr>
              <a:t>From raw HR records to an AI-ready valuation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377440" cy="1280160"/>
          </a:xfrm>
          <a:prstGeom prst="roundRect">
            <a:avLst/>
          </a:prstGeom>
          <a:solidFill>
            <a:srgbClr val="16324F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FFFFFF"/>
                </a:solidFill>
                <a:latin typeface="Aptos Display"/>
              </a:rPr>
              <a:t>8185.0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Latest monthly headcount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377440" cy="1280160"/>
          </a:xfrm>
          <a:prstGeom prst="roundRect">
            <a:avLst/>
          </a:prstGeom>
          <a:solidFill>
            <a:srgbClr val="1F7A8C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FFFFFF"/>
                </a:solidFill>
                <a:latin typeface="Aptos Display"/>
              </a:rPr>
              <a:t>46.0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Female representation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2377440" cy="1280160"/>
          </a:xfrm>
          <a:prstGeom prst="roundRect">
            <a:avLst/>
          </a:prstGeom>
          <a:solidFill>
            <a:srgbClr val="E07A5F"/>
          </a:solidFill>
          <a:ln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FFFFFF"/>
                </a:solidFill>
                <a:latin typeface="Aptos Display"/>
              </a:rPr>
              <a:t>89.4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2024 review completion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371600"/>
            <a:ext cx="2377440" cy="1280160"/>
          </a:xfrm>
          <a:prstGeom prst="roundRect">
            <a:avLst/>
          </a:prstGeom>
          <a:solidFill>
            <a:srgbClr val="4F6D7A"/>
          </a:solidFill>
          <a:ln>
            <a:solidFill>
              <a:srgbClr val="4F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FFFFFF"/>
                </a:solidFill>
                <a:latin typeface="Aptos Display"/>
              </a:rPr>
              <a:t>3.39</a:t>
            </a:r>
          </a:p>
          <a:p>
            <a:pPr algn="ctr">
              <a:defRPr sz="1100">
                <a:solidFill>
                  <a:srgbClr val="FFFFFF"/>
                </a:solidFill>
                <a:latin typeface="Aptos"/>
              </a:defRPr>
            </a:pPr>
            <a:r>
              <a:t>2024 average performance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Objective: shift HR data from cost tracking toward capacity, capability, performance, well-being and value creation.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Data foundation: workforce snapshots, performance reviews, training records, absenteeism logs, and P&amp;L/FTE history.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Deliverable logic: reproducible KPI pipeline + exploratory insights + AI prototype direction.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6324F"/>
                </a:solidFill>
                <a:latin typeface="Aptos Display"/>
              </a:rPr>
              <a:t>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6D7A"/>
                </a:solidFill>
                <a:latin typeface="Aptos"/>
              </a:rPr>
              <a:t>Seven KPIs grouped around business value, not only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Workforce capacity: monthly headcount to monitor operating scale and resilience.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Inclusion: female representation to track talent mix and fairness at workforce level.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Performance governance: annual review completion rate to measure managerial coverage.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Performance quality: mean rating and high-performer share to capture contribution quality.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Capability investment: completed training hours and certification incidence.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Learning effectiveness: training satisfaction and perceived on-the-job impact.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Well-being and efficiency: absence days per employee plus NBI/FTE and personnel cost/FTE.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6324F"/>
                </a:solidFill>
                <a:latin typeface="Aptos Display"/>
              </a:rP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6D7A"/>
                </a:solidFill>
                <a:latin typeface="Aptos"/>
              </a:rPr>
              <a:t>Cleaning, standardization and metric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Ingestion: load 8 structured Excel sources across HR, training and finance.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Normalization: trim column names, harmonize anonymized employee IDs, standardize dates and numeric fields.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Entity layer: workforce snapshot becomes the reference grain for headcount, gender mix and country segmentation.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Event layer: performance, training and absenteeism are transformed into employee-year or employee-event facts.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Aggregation: KPI tables and charts are exported as CSV/PNG for notebook and presentation reuse.</a:t>
            </a:r>
          </a:p>
        </p:txBody>
      </p:sp>
      <p:pic>
        <p:nvPicPr>
          <p:cNvPr id="5" name="Picture 4" descr="headcount_and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66928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6324F"/>
                </a:solidFill>
                <a:latin typeface="Aptos Display"/>
              </a:rPr>
              <a:t>Governance And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6D7A"/>
                </a:solidFill>
                <a:latin typeface="Aptos"/>
              </a:rPr>
              <a:t>Controls required before any human-capital AI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GDPR: retain anonymized IDs only, keep purpose limitation explicit, and restrict outputs to aggregated insights for decision support.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Data quality: track missing IDs, mixed date formats, duplicated employee-review records, and country-specific schema differences.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Bias mitigation: monitor KPI differences by country and gender, and avoid using protected attributes as decision variables in downstream models.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Human oversight: position the prototype as an augmentation tool for HRBP and managers, not an automated decision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6324F"/>
                </a:solidFill>
                <a:latin typeface="Aptos Display"/>
              </a:rPr>
              <a:t>AI Prototype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6D7A"/>
                </a:solidFill>
                <a:latin typeface="Aptos"/>
              </a:rPr>
              <a:t>Techniques aligned with the available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Descriptive layer: KPI monitoring with threshold-based alerts for review coverage, absence spikes and training gaps.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Predictive layer: simple risk models for absenteeism concentration and missing review completion.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Segmentation layer: clustering of employees or entities by training intensity, performance and well-being signals.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Copilot layer: retrieval-augmented assistant that explains KPI movements and recommends follow-up actions with traceable evidence.</a:t>
            </a:r>
          </a:p>
        </p:txBody>
      </p:sp>
      <p:pic>
        <p:nvPicPr>
          <p:cNvPr id="5" name="Picture 4" descr="training_vs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5448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6324F"/>
                </a:solidFill>
                <a:latin typeface="Aptos Display"/>
              </a:rPr>
              <a:t>Insight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6D7A"/>
                </a:solidFill>
                <a:latin typeface="Aptos"/>
              </a:rPr>
              <a:t>Scale stabilized after sharp growth, with a consistent inclusion baseline</a:t>
            </a:r>
          </a:p>
        </p:txBody>
      </p:sp>
      <p:pic>
        <p:nvPicPr>
          <p:cNvPr id="4" name="Picture 3" descr="headcount_and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4008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Headcount moved from 7916 at the first 2024 snapshot to 8185 in the latest snapshot.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Female representation in the latest snapshot stands at 46.0%, suggesting stability but still room for balance improvement.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France and Luxembourg dominate the European footprint, so management practices in those geographies will drive most KPI shifts.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6324F"/>
                </a:solidFill>
                <a:latin typeface="Aptos Display"/>
              </a:rPr>
              <a:t>Insight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6D7A"/>
                </a:solidFill>
                <a:latin typeface="Aptos"/>
              </a:rPr>
              <a:t>Capability signals are strong: large training volume and high learner satisfaction</a:t>
            </a:r>
          </a:p>
        </p:txBody>
      </p:sp>
      <p:pic>
        <p:nvPicPr>
          <p:cNvPr id="4" name="Picture 3" descr="training_h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303520" cy="3314700"/>
          </a:xfrm>
          <a:prstGeom prst="rect">
            <a:avLst/>
          </a:prstGeom>
        </p:spPr>
      </p:pic>
      <p:pic>
        <p:nvPicPr>
          <p:cNvPr id="5" name="Picture 4" descr="training_effective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Completed training reached 33760 hours in 2025 across 1539 employees.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Post-training satisfaction remains high at 4.53/5, while delayed impact feedback shows 76.2% positive responses.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This makes training one of the strongest candidates for the final AI use case because the signal is rich, repeated and linkable to employees.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6324F"/>
                </a:solidFill>
                <a:latin typeface="Aptos Display"/>
              </a:rPr>
              <a:t>Insight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6D7A"/>
                </a:solidFill>
                <a:latin typeface="Aptos"/>
              </a:rPr>
              <a:t>Performance coverage is solid, and efficiency per FTE continues to improve</a:t>
            </a:r>
          </a:p>
        </p:txBody>
      </p:sp>
      <p:pic>
        <p:nvPicPr>
          <p:cNvPr id="4" name="Picture 3" descr="review_completion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303520" cy="3314700"/>
          </a:xfrm>
          <a:prstGeom prst="rect">
            <a:avLst/>
          </a:prstGeom>
        </p:spPr>
      </p:pic>
      <p:pic>
        <p:nvPicPr>
          <p:cNvPr id="5" name="Picture 4" descr="value_creation_e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Weighted 2024 review completion is 89.4%, which is strong enough for KPI-driven managerial accountability.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2025 net banking income per FTE reaches 325, while personnel cost per FTE is 105.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The strategic opportunity is to connect capability and well-being signals to these business efficiency outcomes in the final prototype.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16324F"/>
                </a:solidFill>
                <a:latin typeface="Aptos Display"/>
              </a:rPr>
              <a:t>Implementation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F6D7A"/>
                </a:solidFill>
                <a:latin typeface="Aptos"/>
              </a:rPr>
              <a:t>What is included in the technical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Notebook: `deliverables/CACEIS_Human_Capital_Implementation.ipynb` with KPI logic and exported analysis tables.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Pipeline script: `technical_implementation/generate_caceis_deliverables.py` to fully reproduce outputs.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Reusable assets: CSV KPI tables and PNG charts in `deliverables/tables/` and `deliverables/figures/`.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Next step for the final prototype: promote these tables into a dashboard and add interpretable risk scoring.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