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4"/>
    <p:sldMasterId id="2147483911" r:id="rId5"/>
  </p:sldMasterIdLst>
  <p:notesMasterIdLst>
    <p:notesMasterId r:id="rId17"/>
  </p:notesMasterIdLst>
  <p:handoutMasterIdLst>
    <p:handoutMasterId r:id="rId18"/>
  </p:handoutMasterIdLst>
  <p:sldIdLst>
    <p:sldId id="257" r:id="rId6"/>
    <p:sldId id="258" r:id="rId7"/>
    <p:sldId id="290" r:id="rId8"/>
    <p:sldId id="291" r:id="rId9"/>
    <p:sldId id="293" r:id="rId10"/>
    <p:sldId id="373" r:id="rId11"/>
    <p:sldId id="292" r:id="rId12"/>
    <p:sldId id="371" r:id="rId13"/>
    <p:sldId id="368" r:id="rId14"/>
    <p:sldId id="367" r:id="rId15"/>
    <p:sldId id="372" r:id="rId16"/>
  </p:sldIdLst>
  <p:sldSz cx="9144000" cy="5143500" type="screen16x9"/>
  <p:notesSz cx="6805613" cy="99441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6">
          <p15:clr>
            <a:srgbClr val="A4A3A4"/>
          </p15:clr>
        </p15:guide>
        <p15:guide id="4" orient="horz" pos="849">
          <p15:clr>
            <a:srgbClr val="A4A3A4"/>
          </p15:clr>
        </p15:guide>
        <p15:guide id="5" orient="horz" pos="89">
          <p15:clr>
            <a:srgbClr val="A4A3A4"/>
          </p15:clr>
        </p15:guide>
        <p15:guide id="6" orient="horz" pos="386">
          <p15:clr>
            <a:srgbClr val="A4A3A4"/>
          </p15:clr>
        </p15:guide>
        <p15:guide id="7" orient="horz" pos="2981" userDrawn="1">
          <p15:clr>
            <a:srgbClr val="A4A3A4"/>
          </p15:clr>
        </p15:guide>
        <p15:guide id="8" orient="horz" pos="1121">
          <p15:clr>
            <a:srgbClr val="A4A3A4"/>
          </p15:clr>
        </p15:guide>
        <p15:guide id="9" pos="136">
          <p15:clr>
            <a:srgbClr val="A4A3A4"/>
          </p15:clr>
        </p15:guide>
        <p15:guide id="10" pos="5622">
          <p15:clr>
            <a:srgbClr val="A4A3A4"/>
          </p15:clr>
        </p15:guide>
        <p15:guide id="11" pos="2539">
          <p15:clr>
            <a:srgbClr val="A4A3A4"/>
          </p15:clr>
        </p15:guide>
        <p15:guide id="12" pos="1038">
          <p15:clr>
            <a:srgbClr val="A4A3A4"/>
          </p15:clr>
        </p15:guide>
        <p15:guide id="13" pos="23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01F"/>
    <a:srgbClr val="00A3BB"/>
    <a:srgbClr val="7E93A7"/>
    <a:srgbClr val="E34E96"/>
    <a:srgbClr val="F39C11"/>
    <a:srgbClr val="E84C3D"/>
    <a:srgbClr val="B2BECA"/>
    <a:srgbClr val="C1D6EE"/>
    <a:srgbClr val="E0E3FA"/>
    <a:srgbClr val="E0E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56" autoAdjust="0"/>
    <p:restoredTop sz="93557" autoAdjust="0"/>
  </p:normalViewPr>
  <p:slideViewPr>
    <p:cSldViewPr snapToGrid="0" showGuides="1">
      <p:cViewPr varScale="1">
        <p:scale>
          <a:sx n="147" d="100"/>
          <a:sy n="147" d="100"/>
        </p:scale>
        <p:origin x="306" y="114"/>
      </p:cViewPr>
      <p:guideLst>
        <p:guide orient="horz" pos="1620"/>
        <p:guide pos="2880"/>
        <p:guide orient="horz" pos="656"/>
        <p:guide orient="horz" pos="849"/>
        <p:guide orient="horz" pos="89"/>
        <p:guide orient="horz" pos="386"/>
        <p:guide orient="horz" pos="2981"/>
        <p:guide orient="horz" pos="1121"/>
        <p:guide pos="136"/>
        <p:guide pos="5622"/>
        <p:guide pos="2539"/>
        <p:guide pos="103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-3930" y="-78"/>
      </p:cViewPr>
      <p:guideLst>
        <p:guide orient="horz" pos="3132"/>
        <p:guide pos="214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1BD6-766B-4D19-B75E-7E6A037A6BFB}" type="datetimeFigureOut">
              <a:rPr lang="en-US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1/19/2026</a:t>
            </a:fld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302AA-81B1-4225-BC36-6DD3E8E98722}" type="slidenum">
              <a:rPr lang="en-US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‹N°›</a:t>
            </a:fld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8448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98D3C34-4FAE-4634-9621-7C1A1531823B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A5D1758-ED3D-4611-B861-63A1DF03220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5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Lato" panose="020F0502020204030203" pitchFamily="34" charset="0"/>
        <a:ea typeface="Lato" panose="020F0502020204030203" pitchFamily="34" charset="0"/>
        <a:cs typeface="Lato" panose="020F0502020204030203" pitchFamily="34" charset="0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5D1758-ED3D-4611-B861-63A1DF03220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54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116" y="1450423"/>
            <a:ext cx="9144000" cy="21600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" name="Groupe 11"/>
          <p:cNvGrpSpPr/>
          <p:nvPr userDrawn="1"/>
        </p:nvGrpSpPr>
        <p:grpSpPr>
          <a:xfrm>
            <a:off x="525600" y="-1"/>
            <a:ext cx="1054500" cy="1732210"/>
            <a:chOff x="0" y="938990"/>
            <a:chExt cx="1054500" cy="173221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938990"/>
              <a:ext cx="172800" cy="1732209"/>
            </a:xfrm>
            <a:prstGeom prst="rect">
              <a:avLst/>
            </a:pr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20425" y="2386800"/>
              <a:ext cx="172800" cy="284400"/>
            </a:xfrm>
            <a:prstGeom prst="rect">
              <a:avLst/>
            </a:prstGeom>
            <a:solidFill>
              <a:schemeClr val="accent5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440850" y="2386800"/>
              <a:ext cx="172800" cy="284400"/>
            </a:xfrm>
            <a:prstGeom prst="rect">
              <a:avLst/>
            </a:prstGeom>
            <a:solidFill>
              <a:schemeClr val="bg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61275" y="2386800"/>
              <a:ext cx="172800" cy="284400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881700" y="2386800"/>
              <a:ext cx="172800" cy="284400"/>
            </a:xfrm>
            <a:prstGeom prst="rect">
              <a:avLst/>
            </a:prstGeom>
            <a:solidFill>
              <a:schemeClr val="accent3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1641971" y="1779588"/>
            <a:ext cx="7270604" cy="1590126"/>
          </a:xfrm>
          <a:prstGeom prst="rect">
            <a:avLst/>
          </a:prstGeom>
        </p:spPr>
        <p:txBody>
          <a:bodyPr anchor="ctr" anchorCtr="0"/>
          <a:lstStyle>
            <a:lvl1pPr algn="l">
              <a:defRPr sz="280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7" name="Espace réservé du texte 10"/>
          <p:cNvSpPr>
            <a:spLocks noGrp="1"/>
          </p:cNvSpPr>
          <p:nvPr>
            <p:ph type="body" sz="quarter" idx="11"/>
          </p:nvPr>
        </p:nvSpPr>
        <p:spPr>
          <a:xfrm>
            <a:off x="4030663" y="4486587"/>
            <a:ext cx="2949257" cy="2898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fr-FR" sz="1400" b="1" kern="1200" spc="0" dirty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 Light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4BC0249-CA0A-AD4D-A974-0EA87394BE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760" y="4054948"/>
            <a:ext cx="1466618" cy="7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4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8" name="Connecteur droit 26"/>
          <p:cNvCxnSpPr/>
          <p:nvPr userDrawn="1"/>
        </p:nvCxnSpPr>
        <p:spPr>
          <a:xfrm>
            <a:off x="3973513" y="1312188"/>
            <a:ext cx="0" cy="3831312"/>
          </a:xfrm>
          <a:prstGeom prst="line">
            <a:avLst/>
          </a:prstGeom>
          <a:ln w="6350">
            <a:solidFill>
              <a:srgbClr val="8592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96721" y="1074421"/>
            <a:ext cx="5028204" cy="3745230"/>
          </a:xfrm>
          <a:prstGeom prst="rect">
            <a:avLst/>
          </a:prstGeom>
        </p:spPr>
        <p:txBody>
          <a:bodyPr lIns="0"/>
          <a:lstStyle>
            <a:lvl1pPr marL="266700" indent="-266700" algn="l">
              <a:lnSpc>
                <a:spcPct val="100000"/>
              </a:lnSpc>
              <a:spcBef>
                <a:spcPts val="11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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266700" indent="0" algn="l">
              <a:lnSpc>
                <a:spcPts val="600"/>
              </a:lnSpc>
              <a:spcBef>
                <a:spcPts val="900"/>
              </a:spcBef>
              <a:buSzPct val="60000"/>
              <a:buNone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58775" indent="0">
              <a:buNone/>
              <a:tabLst/>
              <a:defRPr>
                <a:latin typeface="Lato Regular" panose="020F0502020204030203" pitchFamily="34" charset="0"/>
              </a:defRPr>
            </a:lvl3pPr>
            <a:lvl4pPr marL="541338" indent="0">
              <a:buNone/>
              <a:tabLst/>
              <a:defRPr>
                <a:latin typeface="Lato Regular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25201" y="2632440"/>
            <a:ext cx="3405600" cy="6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804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25201" y="2632440"/>
            <a:ext cx="3405600" cy="6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70051" y="1483995"/>
            <a:ext cx="5054874" cy="3427095"/>
          </a:xfrm>
          <a:prstGeom prst="rect">
            <a:avLst/>
          </a:prstGeom>
        </p:spPr>
        <p:txBody>
          <a:bodyPr lIns="0"/>
          <a:lstStyle>
            <a:lvl1pPr marL="266700" indent="-266700" algn="l">
              <a:lnSpc>
                <a:spcPct val="100000"/>
              </a:lnSpc>
              <a:spcBef>
                <a:spcPts val="1100"/>
              </a:spcBef>
              <a:buClr>
                <a:schemeClr val="accent1"/>
              </a:buClr>
              <a:buSzPct val="100000"/>
              <a:buFont typeface="+mj-lt"/>
              <a:buAutoNum type="arabicPeriod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266700" indent="0" algn="l">
              <a:lnSpc>
                <a:spcPts val="600"/>
              </a:lnSpc>
              <a:spcBef>
                <a:spcPts val="900"/>
              </a:spcBef>
              <a:buSzPct val="60000"/>
              <a:buNone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58775" indent="0">
              <a:buNone/>
              <a:tabLst/>
              <a:defRPr>
                <a:latin typeface="Lato Regular" panose="020F0502020204030203" pitchFamily="34" charset="0"/>
              </a:defRPr>
            </a:lvl3pPr>
            <a:lvl4pPr marL="541338" indent="0">
              <a:buNone/>
              <a:tabLst/>
              <a:defRPr>
                <a:latin typeface="Lato Regular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44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116" y="1555765"/>
            <a:ext cx="9144000" cy="204329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961073" y="2303188"/>
            <a:ext cx="7250416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lang="fr-FR" sz="1500" b="0" kern="1200" spc="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 Light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958606" y="1804989"/>
            <a:ext cx="7270604" cy="503871"/>
          </a:xfrm>
          <a:prstGeom prst="rect">
            <a:avLst/>
          </a:prstGeom>
        </p:spPr>
        <p:txBody>
          <a:bodyPr/>
          <a:lstStyle>
            <a:lvl1pPr algn="l">
              <a:defRPr sz="340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grpSp>
        <p:nvGrpSpPr>
          <p:cNvPr id="12" name="Groupe 17"/>
          <p:cNvGrpSpPr/>
          <p:nvPr userDrawn="1"/>
        </p:nvGrpSpPr>
        <p:grpSpPr>
          <a:xfrm>
            <a:off x="8086725" y="3314055"/>
            <a:ext cx="1054500" cy="1829446"/>
            <a:chOff x="0" y="2386800"/>
            <a:chExt cx="1054500" cy="1829446"/>
          </a:xfrm>
        </p:grpSpPr>
        <p:sp>
          <p:nvSpPr>
            <p:cNvPr id="13" name="Rectangle 12"/>
            <p:cNvSpPr/>
            <p:nvPr userDrawn="1"/>
          </p:nvSpPr>
          <p:spPr>
            <a:xfrm>
              <a:off x="0" y="2386800"/>
              <a:ext cx="172800" cy="1829446"/>
            </a:xfrm>
            <a:prstGeom prst="rect">
              <a:avLst/>
            </a:pr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220425" y="2386800"/>
              <a:ext cx="172800" cy="284400"/>
            </a:xfrm>
            <a:prstGeom prst="rect">
              <a:avLst/>
            </a:prstGeom>
            <a:solidFill>
              <a:schemeClr val="accent5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40850" y="2386800"/>
              <a:ext cx="172800" cy="284400"/>
            </a:xfrm>
            <a:prstGeom prst="rect">
              <a:avLst/>
            </a:prstGeom>
            <a:solidFill>
              <a:schemeClr val="bg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61275" y="2386800"/>
              <a:ext cx="172800" cy="284400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881700" y="2386800"/>
              <a:ext cx="172800" cy="284400"/>
            </a:xfrm>
            <a:prstGeom prst="rect">
              <a:avLst/>
            </a:prstGeom>
            <a:solidFill>
              <a:schemeClr val="accent3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0" y="1552840"/>
            <a:ext cx="172800" cy="69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8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22263" y="1347788"/>
            <a:ext cx="8574166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8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9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693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6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22262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1" name="Espace réservé du contenu 2"/>
          <p:cNvSpPr>
            <a:spLocks noGrp="1"/>
          </p:cNvSpPr>
          <p:nvPr>
            <p:ph idx="11" hasCustomPrompt="1"/>
          </p:nvPr>
        </p:nvSpPr>
        <p:spPr>
          <a:xfrm>
            <a:off x="3240396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2" name="Espace réservé du contenu 2"/>
          <p:cNvSpPr>
            <a:spLocks noGrp="1"/>
          </p:cNvSpPr>
          <p:nvPr>
            <p:ph idx="12" hasCustomPrompt="1"/>
          </p:nvPr>
        </p:nvSpPr>
        <p:spPr>
          <a:xfrm>
            <a:off x="6152925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726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0" name="Espace réservé du contenu 2"/>
          <p:cNvSpPr>
            <a:spLocks noGrp="1"/>
          </p:cNvSpPr>
          <p:nvPr>
            <p:ph idx="12" hasCustomPrompt="1"/>
          </p:nvPr>
        </p:nvSpPr>
        <p:spPr>
          <a:xfrm>
            <a:off x="322262" y="1347788"/>
            <a:ext cx="383627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1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4572000" y="1347788"/>
            <a:ext cx="383627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150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1"/>
          <p:cNvSpPr>
            <a:spLocks noGrp="1"/>
          </p:cNvSpPr>
          <p:nvPr>
            <p:ph type="body" sz="quarter" idx="12"/>
          </p:nvPr>
        </p:nvSpPr>
        <p:spPr>
          <a:xfrm>
            <a:off x="322263" y="1347063"/>
            <a:ext cx="1331912" cy="325596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FontTx/>
              <a:buNone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12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1840961" y="1347788"/>
            <a:ext cx="7083963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636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24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73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014761" y="0"/>
            <a:ext cx="172800" cy="1429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-1" y="0"/>
            <a:ext cx="4030663" cy="51435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668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27760" y="0"/>
            <a:ext cx="2834640" cy="51435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064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116" y="1450423"/>
            <a:ext cx="9144000" cy="21600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" name="Groupe 11"/>
          <p:cNvGrpSpPr/>
          <p:nvPr userDrawn="1"/>
        </p:nvGrpSpPr>
        <p:grpSpPr>
          <a:xfrm>
            <a:off x="525600" y="-1"/>
            <a:ext cx="1054500" cy="1732210"/>
            <a:chOff x="0" y="938990"/>
            <a:chExt cx="1054500" cy="173221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938990"/>
              <a:ext cx="172800" cy="1732209"/>
            </a:xfrm>
            <a:prstGeom prst="rect">
              <a:avLst/>
            </a:pr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20425" y="2386800"/>
              <a:ext cx="172800" cy="284400"/>
            </a:xfrm>
            <a:prstGeom prst="rect">
              <a:avLst/>
            </a:prstGeom>
            <a:solidFill>
              <a:schemeClr val="accent5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440850" y="2386800"/>
              <a:ext cx="172800" cy="284400"/>
            </a:xfrm>
            <a:prstGeom prst="rect">
              <a:avLst/>
            </a:prstGeom>
            <a:solidFill>
              <a:schemeClr val="bg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61275" y="2386800"/>
              <a:ext cx="172800" cy="284400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881700" y="2386800"/>
              <a:ext cx="172800" cy="284400"/>
            </a:xfrm>
            <a:prstGeom prst="rect">
              <a:avLst/>
            </a:prstGeom>
            <a:solidFill>
              <a:schemeClr val="accent3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1641971" y="1779588"/>
            <a:ext cx="7270604" cy="1590126"/>
          </a:xfrm>
          <a:prstGeom prst="rect">
            <a:avLst/>
          </a:prstGeom>
        </p:spPr>
        <p:txBody>
          <a:bodyPr anchor="ctr" anchorCtr="0"/>
          <a:lstStyle>
            <a:lvl1pPr algn="l">
              <a:defRPr sz="280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7" name="Espace réservé du texte 10"/>
          <p:cNvSpPr>
            <a:spLocks noGrp="1"/>
          </p:cNvSpPr>
          <p:nvPr>
            <p:ph type="body" sz="quarter" idx="11"/>
          </p:nvPr>
        </p:nvSpPr>
        <p:spPr>
          <a:xfrm>
            <a:off x="4030663" y="4486587"/>
            <a:ext cx="2949257" cy="2898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fr-FR" sz="1400" b="1" kern="1200" spc="0" dirty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 Light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4BC0249-CA0A-AD4D-A974-0EA87394BE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760" y="4054948"/>
            <a:ext cx="1466618" cy="7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59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8" name="Connecteur droit 26"/>
          <p:cNvCxnSpPr/>
          <p:nvPr userDrawn="1"/>
        </p:nvCxnSpPr>
        <p:spPr>
          <a:xfrm>
            <a:off x="3973513" y="1312188"/>
            <a:ext cx="0" cy="3831312"/>
          </a:xfrm>
          <a:prstGeom prst="line">
            <a:avLst/>
          </a:prstGeom>
          <a:ln w="6350">
            <a:solidFill>
              <a:srgbClr val="8592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96721" y="1074421"/>
            <a:ext cx="5028204" cy="3745230"/>
          </a:xfrm>
          <a:prstGeom prst="rect">
            <a:avLst/>
          </a:prstGeom>
        </p:spPr>
        <p:txBody>
          <a:bodyPr lIns="0"/>
          <a:lstStyle>
            <a:lvl1pPr marL="266700" indent="-266700" algn="l">
              <a:lnSpc>
                <a:spcPct val="100000"/>
              </a:lnSpc>
              <a:spcBef>
                <a:spcPts val="11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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266700" indent="0" algn="l">
              <a:lnSpc>
                <a:spcPts val="600"/>
              </a:lnSpc>
              <a:spcBef>
                <a:spcPts val="900"/>
              </a:spcBef>
              <a:buSzPct val="60000"/>
              <a:buNone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58775" indent="0">
              <a:buNone/>
              <a:tabLst/>
              <a:defRPr>
                <a:latin typeface="Lato Regular" panose="020F0502020204030203" pitchFamily="34" charset="0"/>
              </a:defRPr>
            </a:lvl3pPr>
            <a:lvl4pPr marL="541338" indent="0">
              <a:buNone/>
              <a:tabLst/>
              <a:defRPr>
                <a:latin typeface="Lato Regular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25201" y="2632440"/>
            <a:ext cx="3405600" cy="6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9716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25201" y="2632440"/>
            <a:ext cx="3405600" cy="6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70051" y="1483995"/>
            <a:ext cx="5054874" cy="3427095"/>
          </a:xfrm>
          <a:prstGeom prst="rect">
            <a:avLst/>
          </a:prstGeom>
        </p:spPr>
        <p:txBody>
          <a:bodyPr lIns="0"/>
          <a:lstStyle>
            <a:lvl1pPr marL="266700" indent="-266700" algn="l">
              <a:lnSpc>
                <a:spcPct val="100000"/>
              </a:lnSpc>
              <a:spcBef>
                <a:spcPts val="1100"/>
              </a:spcBef>
              <a:buClr>
                <a:schemeClr val="accent1"/>
              </a:buClr>
              <a:buSzPct val="100000"/>
              <a:buFont typeface="+mj-lt"/>
              <a:buAutoNum type="arabicPeriod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266700" indent="0" algn="l">
              <a:lnSpc>
                <a:spcPts val="600"/>
              </a:lnSpc>
              <a:spcBef>
                <a:spcPts val="900"/>
              </a:spcBef>
              <a:buSzPct val="60000"/>
              <a:buNone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58775" indent="0">
              <a:buNone/>
              <a:tabLst/>
              <a:defRPr>
                <a:latin typeface="Lato Regular" panose="020F0502020204030203" pitchFamily="34" charset="0"/>
              </a:defRPr>
            </a:lvl3pPr>
            <a:lvl4pPr marL="541338" indent="0">
              <a:buNone/>
              <a:tabLst/>
              <a:defRPr>
                <a:latin typeface="Lato Regular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6606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116" y="1555765"/>
            <a:ext cx="9144000" cy="204329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961073" y="2303188"/>
            <a:ext cx="7250416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lang="fr-FR" sz="1500" b="0" kern="1200" spc="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 Light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958606" y="1804989"/>
            <a:ext cx="7270604" cy="503871"/>
          </a:xfrm>
          <a:prstGeom prst="rect">
            <a:avLst/>
          </a:prstGeom>
        </p:spPr>
        <p:txBody>
          <a:bodyPr/>
          <a:lstStyle>
            <a:lvl1pPr algn="l">
              <a:defRPr sz="340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grpSp>
        <p:nvGrpSpPr>
          <p:cNvPr id="12" name="Groupe 17"/>
          <p:cNvGrpSpPr/>
          <p:nvPr userDrawn="1"/>
        </p:nvGrpSpPr>
        <p:grpSpPr>
          <a:xfrm>
            <a:off x="8086725" y="3314055"/>
            <a:ext cx="1054500" cy="1829446"/>
            <a:chOff x="0" y="2386800"/>
            <a:chExt cx="1054500" cy="1829446"/>
          </a:xfrm>
        </p:grpSpPr>
        <p:sp>
          <p:nvSpPr>
            <p:cNvPr id="13" name="Rectangle 12"/>
            <p:cNvSpPr/>
            <p:nvPr userDrawn="1"/>
          </p:nvSpPr>
          <p:spPr>
            <a:xfrm>
              <a:off x="0" y="2386800"/>
              <a:ext cx="172800" cy="1829446"/>
            </a:xfrm>
            <a:prstGeom prst="rect">
              <a:avLst/>
            </a:pr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220425" y="2386800"/>
              <a:ext cx="172800" cy="284400"/>
            </a:xfrm>
            <a:prstGeom prst="rect">
              <a:avLst/>
            </a:prstGeom>
            <a:solidFill>
              <a:schemeClr val="accent5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40850" y="2386800"/>
              <a:ext cx="172800" cy="284400"/>
            </a:xfrm>
            <a:prstGeom prst="rect">
              <a:avLst/>
            </a:prstGeom>
            <a:solidFill>
              <a:schemeClr val="bg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61275" y="2386800"/>
              <a:ext cx="172800" cy="284400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881700" y="2386800"/>
              <a:ext cx="172800" cy="284400"/>
            </a:xfrm>
            <a:prstGeom prst="rect">
              <a:avLst/>
            </a:prstGeom>
            <a:solidFill>
              <a:schemeClr val="accent3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0" y="1552840"/>
            <a:ext cx="172800" cy="69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036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22263" y="1347788"/>
            <a:ext cx="8574166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8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9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18700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6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22262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1" name="Espace réservé du contenu 2"/>
          <p:cNvSpPr>
            <a:spLocks noGrp="1"/>
          </p:cNvSpPr>
          <p:nvPr>
            <p:ph idx="11" hasCustomPrompt="1"/>
          </p:nvPr>
        </p:nvSpPr>
        <p:spPr>
          <a:xfrm>
            <a:off x="3240396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2" name="Espace réservé du contenu 2"/>
          <p:cNvSpPr>
            <a:spLocks noGrp="1"/>
          </p:cNvSpPr>
          <p:nvPr>
            <p:ph idx="12" hasCustomPrompt="1"/>
          </p:nvPr>
        </p:nvSpPr>
        <p:spPr>
          <a:xfrm>
            <a:off x="6152925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3607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0" name="Espace réservé du contenu 2"/>
          <p:cNvSpPr>
            <a:spLocks noGrp="1"/>
          </p:cNvSpPr>
          <p:nvPr>
            <p:ph idx="12" hasCustomPrompt="1"/>
          </p:nvPr>
        </p:nvSpPr>
        <p:spPr>
          <a:xfrm>
            <a:off x="322262" y="1347788"/>
            <a:ext cx="383627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1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4572000" y="1347788"/>
            <a:ext cx="383627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6127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1"/>
          <p:cNvSpPr>
            <a:spLocks noGrp="1"/>
          </p:cNvSpPr>
          <p:nvPr>
            <p:ph type="body" sz="quarter" idx="12"/>
          </p:nvPr>
        </p:nvSpPr>
        <p:spPr>
          <a:xfrm>
            <a:off x="322263" y="1347063"/>
            <a:ext cx="1331912" cy="325596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FontTx/>
              <a:buNone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12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1840961" y="1347788"/>
            <a:ext cx="7083963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Level 1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Level 2 </a:t>
            </a:r>
            <a:r>
              <a:rPr lang="fr-FR" dirty="0" err="1"/>
              <a:t>text</a:t>
            </a:r>
            <a:endParaRPr lang="fr-FR" dirty="0"/>
          </a:p>
          <a:p>
            <a:pPr lvl="2"/>
            <a:r>
              <a:rPr lang="fr-FR" dirty="0"/>
              <a:t>Level 3 </a:t>
            </a:r>
            <a:r>
              <a:rPr lang="fr-FR" dirty="0" err="1"/>
              <a:t>text</a:t>
            </a:r>
            <a:endParaRPr lang="fr-FR" dirty="0"/>
          </a:p>
          <a:p>
            <a:pPr lvl="3"/>
            <a:r>
              <a:rPr lang="fr-FR" dirty="0"/>
              <a:t>Level 4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1954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‹N°›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33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734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014761" y="0"/>
            <a:ext cx="172800" cy="1429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-1" y="0"/>
            <a:ext cx="4030663" cy="51435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6981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27760" y="0"/>
            <a:ext cx="2834640" cy="51435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439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1835399402,&quot;Placement&quot;:&quot;Footer&quot;,&quot;Top&quot;:384.343,&quot;Left&quot;:290.641571,&quot;SlideWidth&quot;:720,&quot;SlideHeight&quot;:405}"/>
          <p:cNvSpPr txBox="1"/>
          <p:nvPr userDrawn="1"/>
        </p:nvSpPr>
        <p:spPr>
          <a:xfrm>
            <a:off x="3691148" y="4881156"/>
            <a:ext cx="1761705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</a:rPr>
              <a:t>Usage Interne / Internal Use</a:t>
            </a:r>
          </a:p>
        </p:txBody>
      </p:sp>
    </p:spTree>
    <p:extLst>
      <p:ext uri="{BB962C8B-B14F-4D97-AF65-F5344CB8AC3E}">
        <p14:creationId xmlns:p14="http://schemas.microsoft.com/office/powerpoint/2010/main" val="366269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905" r:id="rId2"/>
    <p:sldLayoutId id="2147483906" r:id="rId3"/>
    <p:sldLayoutId id="2147483892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907" r:id="rId10"/>
    <p:sldLayoutId id="2147483908" r:id="rId11"/>
    <p:sldLayoutId id="214748390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1835399402,&quot;Placement&quot;:&quot;Footer&quot;,&quot;Top&quot;:384.343,&quot;Left&quot;:290.641571,&quot;SlideWidth&quot;:720,&quot;SlideHeight&quot;:405}"/>
          <p:cNvSpPr txBox="1"/>
          <p:nvPr userDrawn="1"/>
        </p:nvSpPr>
        <p:spPr>
          <a:xfrm>
            <a:off x="3691148" y="4881156"/>
            <a:ext cx="1761705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</a:rPr>
              <a:t>Usage Interne / Internal Use</a:t>
            </a:r>
          </a:p>
        </p:txBody>
      </p:sp>
    </p:spTree>
    <p:extLst>
      <p:ext uri="{BB962C8B-B14F-4D97-AF65-F5344CB8AC3E}">
        <p14:creationId xmlns:p14="http://schemas.microsoft.com/office/powerpoint/2010/main" val="259169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QVCT et D&amp;I</a:t>
            </a:r>
            <a:br>
              <a:rPr lang="fr-FR" dirty="0"/>
            </a:br>
            <a:r>
              <a:rPr lang="fr-FR" dirty="0"/>
              <a:t>Bilan 2025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2507531" y="4517067"/>
            <a:ext cx="4472390" cy="289883"/>
          </a:xfrm>
        </p:spPr>
        <p:txBody>
          <a:bodyPr/>
          <a:lstStyle/>
          <a:p>
            <a:r>
              <a:rPr lang="fr-FR" dirty="0"/>
              <a:t>Réunion CSSCT-QVT du 20 janvier 2026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1E4CFF-9629-CA07-F2C7-57365416A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69" y="3752478"/>
            <a:ext cx="1190302" cy="119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10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0190" y="1242767"/>
            <a:ext cx="5028204" cy="3745230"/>
          </a:xfrm>
        </p:spPr>
        <p:txBody>
          <a:bodyPr/>
          <a:lstStyle/>
          <a:p>
            <a:r>
              <a:rPr lang="fr-FR" dirty="0"/>
              <a:t>1. Quelques rappels sur la démarche QVCT et D&amp;I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ex-FAB’Life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2. Bilan des actions 2025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3. Temps forts et panorama des actions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01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2440" y="1644701"/>
            <a:ext cx="8743113" cy="536134"/>
          </a:xfrm>
        </p:spPr>
        <p:txBody>
          <a:bodyPr/>
          <a:lstStyle/>
          <a:p>
            <a:r>
              <a:rPr lang="fr-FR" sz="2800" dirty="0"/>
              <a:t>1. Quelques rappels sur la démarche QVCT et D&amp;I</a:t>
            </a:r>
            <a:br>
              <a:rPr lang="fr-FR" sz="2800" dirty="0"/>
            </a:br>
            <a:r>
              <a:rPr lang="fr-FR" sz="2800" dirty="0"/>
              <a:t>(</a:t>
            </a:r>
            <a:r>
              <a:rPr lang="fr-FR" sz="2800" dirty="0" err="1"/>
              <a:t>ex-FAB’Life</a:t>
            </a:r>
            <a:r>
              <a:rPr lang="fr-FR" sz="2800" dirty="0"/>
              <a:t>)</a:t>
            </a:r>
            <a:br>
              <a:rPr lang="fr-FR" sz="2800" dirty="0"/>
            </a:br>
            <a:endParaRPr lang="en-US" sz="30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7B2EC8E-ECA8-91FA-2E84-BBAA17E85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77" y="2751699"/>
            <a:ext cx="1679686" cy="167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641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5790" y="737816"/>
            <a:ext cx="8682309" cy="4386186"/>
          </a:xfrm>
        </p:spPr>
        <p:txBody>
          <a:bodyPr>
            <a:normAutofit/>
          </a:bodyPr>
          <a:lstStyle/>
          <a:p>
            <a:r>
              <a:rPr lang="fr-FR" sz="900" b="1" dirty="0">
                <a:solidFill>
                  <a:srgbClr val="C00000"/>
                </a:solidFill>
              </a:rPr>
              <a:t>Pourquoi une telle démarche? </a:t>
            </a:r>
          </a:p>
          <a:p>
            <a:pPr marL="180975" indent="-180975">
              <a:buFont typeface="Wingdings" panose="05000000000000000000" pitchFamily="2" charset="2"/>
              <a:buChar char="Ø"/>
            </a:pPr>
            <a:endParaRPr lang="fr-FR" sz="900" dirty="0"/>
          </a:p>
          <a:p>
            <a:pPr marL="180975" indent="-180975">
              <a:buFont typeface="Wingdings" panose="05000000000000000000" pitchFamily="2" charset="2"/>
              <a:buChar char="Ø"/>
            </a:pPr>
            <a:r>
              <a:rPr lang="fr-FR" sz="900" dirty="0"/>
              <a:t>Optimiser la performance et l’efficacité individuelle et collective</a:t>
            </a:r>
          </a:p>
          <a:p>
            <a:pPr marL="180975" indent="-180975">
              <a:buFont typeface="Wingdings" panose="05000000000000000000" pitchFamily="2" charset="2"/>
              <a:buChar char="Ø"/>
            </a:pPr>
            <a:r>
              <a:rPr lang="fr-FR" sz="900" dirty="0"/>
              <a:t>Préserver la santé des collaborateurs et réduire l’absentéisme</a:t>
            </a:r>
          </a:p>
          <a:p>
            <a:pPr marL="180975" indent="-180975">
              <a:buFont typeface="Wingdings" panose="05000000000000000000" pitchFamily="2" charset="2"/>
              <a:buChar char="Ø"/>
            </a:pPr>
            <a:r>
              <a:rPr lang="fr-FR" sz="900" dirty="0"/>
              <a:t>Attirer de nouveaux talents et fidéliser nos collaborateurs</a:t>
            </a:r>
          </a:p>
          <a:p>
            <a:pPr marL="180975" indent="-180975">
              <a:buFont typeface="Wingdings" panose="05000000000000000000" pitchFamily="2" charset="2"/>
              <a:buChar char="Ø"/>
            </a:pPr>
            <a:r>
              <a:rPr lang="fr-FR" sz="900" dirty="0"/>
              <a:t>Favoriser un bon climat social</a:t>
            </a:r>
          </a:p>
          <a:p>
            <a:pPr marL="180975" indent="-180975">
              <a:buFont typeface="Wingdings" panose="05000000000000000000" pitchFamily="2" charset="2"/>
              <a:buChar char="Ø"/>
            </a:pPr>
            <a:r>
              <a:rPr lang="fr-FR" sz="900" dirty="0"/>
              <a:t>Contribuer à la démarche socialement responsable de CACEIS (RSE)</a:t>
            </a:r>
          </a:p>
          <a:p>
            <a:pPr marL="180975" indent="-180975">
              <a:buFont typeface="Wingdings" panose="05000000000000000000" pitchFamily="2" charset="2"/>
              <a:buChar char="Ø"/>
            </a:pPr>
            <a:r>
              <a:rPr lang="fr-FR" sz="900" dirty="0"/>
              <a:t>Inscrire ces actions dans les engagements pris par CACEIS dans le cadre des enquêtes RPS/QVCT, IMR ainsi que ses accords collectifs</a:t>
            </a:r>
          </a:p>
          <a:p>
            <a:pPr marL="180975" indent="-180975">
              <a:buFont typeface="Wingdings" panose="05000000000000000000" pitchFamily="2" charset="2"/>
              <a:buChar char="Ø"/>
            </a:pPr>
            <a:r>
              <a:rPr lang="fr-FR" sz="900" dirty="0"/>
              <a:t>Une démarche qui s’adresse à tous les collaborateurs de CACEIS</a:t>
            </a:r>
          </a:p>
          <a:p>
            <a:pPr marL="180975" indent="-180975"/>
            <a:endParaRPr lang="fr-FR" sz="900" b="1" dirty="0"/>
          </a:p>
          <a:p>
            <a:pPr marL="180975" indent="-180975"/>
            <a:endParaRPr lang="fr-FR" sz="900" b="1" dirty="0"/>
          </a:p>
          <a:p>
            <a:pPr marL="180975" indent="-180975"/>
            <a:r>
              <a:rPr lang="fr-FR" sz="900" b="1" dirty="0">
                <a:solidFill>
                  <a:srgbClr val="C00000"/>
                </a:solidFill>
              </a:rPr>
              <a:t>Clap de fin pour </a:t>
            </a:r>
            <a:r>
              <a:rPr lang="fr-FR" sz="900" b="1" dirty="0" err="1">
                <a:solidFill>
                  <a:srgbClr val="C00000"/>
                </a:solidFill>
              </a:rPr>
              <a:t>FAB’Life</a:t>
            </a:r>
            <a:r>
              <a:rPr lang="fr-FR" sz="900" b="1" dirty="0">
                <a:solidFill>
                  <a:srgbClr val="C00000"/>
                </a:solidFill>
              </a:rPr>
              <a:t>…</a:t>
            </a:r>
          </a:p>
          <a:p>
            <a:pPr marL="0" indent="0">
              <a:buNone/>
            </a:pPr>
            <a:r>
              <a:rPr lang="fr-FR" sz="900" dirty="0"/>
              <a:t>Depuis 2015, </a:t>
            </a:r>
            <a:r>
              <a:rPr lang="fr-FR" sz="900" b="1" dirty="0" err="1"/>
              <a:t>FAB’Life</a:t>
            </a:r>
            <a:r>
              <a:rPr lang="fr-FR" sz="900" dirty="0"/>
              <a:t> a porté l’engagement de CACEIS en faveur </a:t>
            </a:r>
            <a:r>
              <a:rPr lang="fr-FR" sz="900" b="1" dirty="0"/>
              <a:t>de la qualité de vie au travail, de la diversité, de l’inclusion et</a:t>
            </a:r>
            <a:r>
              <a:rPr lang="fr-FR" sz="900" dirty="0"/>
              <a:t> </a:t>
            </a:r>
            <a:r>
              <a:rPr lang="fr-FR" sz="900" b="1" dirty="0"/>
              <a:t>de la solidarité,</a:t>
            </a:r>
            <a:r>
              <a:rPr lang="fr-FR" sz="900" dirty="0"/>
              <a:t>.</a:t>
            </a:r>
          </a:p>
          <a:p>
            <a:pPr marL="0" indent="0">
              <a:buNone/>
            </a:pPr>
            <a:r>
              <a:rPr lang="fr-FR" sz="900" dirty="0"/>
              <a:t>Pendant 10 ans, ce label a donné vie à des centaines d’initiatives concrètes au service du bien-être des collaborateurs et autour de valeurs fortes.</a:t>
            </a:r>
          </a:p>
          <a:p>
            <a:pPr marL="0" indent="0">
              <a:buNone/>
            </a:pPr>
            <a:endParaRPr lang="fr-FR" sz="900" dirty="0"/>
          </a:p>
          <a:p>
            <a:pPr marL="0" indent="0">
              <a:buNone/>
            </a:pPr>
            <a:r>
              <a:rPr lang="fr-FR" sz="900" dirty="0"/>
              <a:t>Autant d’événements pour informer, sensibiliser, prévenir, donner des clés aux collaborateurs, et faire avancer la culture du care au sein de notre entreprise.</a:t>
            </a:r>
          </a:p>
          <a:p>
            <a:endParaRPr lang="fr-FR" sz="900" b="1" dirty="0"/>
          </a:p>
          <a:p>
            <a:r>
              <a:rPr lang="fr-FR" sz="900" b="1" dirty="0">
                <a:solidFill>
                  <a:srgbClr val="C00000"/>
                </a:solidFill>
              </a:rPr>
              <a:t>…Et maintenant ?</a:t>
            </a:r>
          </a:p>
          <a:p>
            <a:pPr marL="0" indent="0">
              <a:buNone/>
            </a:pPr>
            <a:r>
              <a:rPr lang="fr-FR" sz="900" dirty="0"/>
              <a:t>À compter de </a:t>
            </a:r>
            <a:r>
              <a:rPr lang="fr-FR" sz="900" b="1" dirty="0"/>
              <a:t>juillet 2025</a:t>
            </a:r>
            <a:r>
              <a:rPr lang="fr-FR" sz="900" dirty="0"/>
              <a:t>, la démarche </a:t>
            </a:r>
            <a:r>
              <a:rPr lang="fr-FR" sz="900" dirty="0" err="1"/>
              <a:t>FAB’Life</a:t>
            </a:r>
            <a:r>
              <a:rPr lang="fr-FR" sz="900" dirty="0"/>
              <a:t> évolue : elle est désormais pleinement intégrée dans le pilier </a:t>
            </a:r>
            <a:r>
              <a:rPr lang="fr-FR" sz="900" b="1" dirty="0"/>
              <a:t>Diversité &amp; Inclusion </a:t>
            </a:r>
            <a:r>
              <a:rPr lang="fr-FR" sz="900" dirty="0"/>
              <a:t>de la culture </a:t>
            </a:r>
            <a:r>
              <a:rPr lang="fr-FR" sz="900" b="1" dirty="0"/>
              <a:t>One CACEIS, sous la bannière de notre valeur commune "</a:t>
            </a:r>
            <a:r>
              <a:rPr lang="fr-FR" sz="900" b="1" dirty="0" err="1"/>
              <a:t>We</a:t>
            </a:r>
            <a:r>
              <a:rPr lang="fr-FR" sz="900" b="1" dirty="0"/>
              <a:t> Care"</a:t>
            </a:r>
            <a:r>
              <a:rPr lang="fr-FR" sz="900" dirty="0"/>
              <a:t>.</a:t>
            </a:r>
          </a:p>
          <a:p>
            <a:pPr marL="0" indent="0">
              <a:buNone/>
            </a:pPr>
            <a:endParaRPr lang="fr-FR" sz="900" dirty="0"/>
          </a:p>
          <a:p>
            <a:pPr marL="0" indent="0">
              <a:buNone/>
            </a:pPr>
            <a:r>
              <a:rPr lang="fr-FR" sz="900" dirty="0"/>
              <a:t>Les actions de </a:t>
            </a:r>
            <a:r>
              <a:rPr lang="fr-FR" sz="900" b="1" dirty="0"/>
              <a:t>prévention des risques psycho-sociaux, </a:t>
            </a:r>
            <a:r>
              <a:rPr lang="fr-FR" sz="900" dirty="0"/>
              <a:t>de </a:t>
            </a:r>
            <a:r>
              <a:rPr lang="fr-FR" sz="900" b="1" dirty="0"/>
              <a:t>promotion de la santé</a:t>
            </a:r>
            <a:r>
              <a:rPr lang="fr-FR" sz="900" dirty="0"/>
              <a:t>, de </a:t>
            </a:r>
            <a:r>
              <a:rPr lang="fr-FR" sz="900" b="1" dirty="0"/>
              <a:t>diversité, inclusion et solidarité </a:t>
            </a:r>
            <a:r>
              <a:rPr lang="fr-FR" sz="900" dirty="0"/>
              <a:t>continuent, portées par cette </a:t>
            </a:r>
          </a:p>
          <a:p>
            <a:pPr marL="0" indent="0">
              <a:buNone/>
            </a:pPr>
            <a:r>
              <a:rPr lang="fr-FR" sz="900" dirty="0"/>
              <a:t>nouvelle dynamique, en cohérence avec les ambitions humaines et responsables du Groupe.</a:t>
            </a:r>
          </a:p>
          <a:p>
            <a:pPr marL="0" indent="0">
              <a:buNone/>
            </a:pPr>
            <a:endParaRPr lang="fr-FR" sz="900" dirty="0"/>
          </a:p>
          <a:p>
            <a:endParaRPr lang="fr-FR" sz="900" b="1" dirty="0"/>
          </a:p>
          <a:p>
            <a:endParaRPr lang="fr-FR" sz="900" b="1" dirty="0"/>
          </a:p>
          <a:p>
            <a:endParaRPr lang="fr-FR" sz="900" b="1" dirty="0"/>
          </a:p>
          <a:p>
            <a:endParaRPr lang="fr-FR" sz="900" b="1" dirty="0"/>
          </a:p>
          <a:p>
            <a:endParaRPr lang="fr-FR" sz="900" b="1" dirty="0"/>
          </a:p>
          <a:p>
            <a:endParaRPr lang="fr-FR" sz="9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5901" y="236540"/>
            <a:ext cx="7961852" cy="479078"/>
          </a:xfrm>
        </p:spPr>
        <p:txBody>
          <a:bodyPr/>
          <a:lstStyle/>
          <a:p>
            <a:r>
              <a:rPr lang="fr-FR" sz="2200" dirty="0"/>
              <a:t>Quelques rappels sur la démarche QVCT et D&amp;I (</a:t>
            </a:r>
            <a:r>
              <a:rPr lang="fr-FR" sz="2200" dirty="0" err="1"/>
              <a:t>ex-FAB’Life</a:t>
            </a:r>
            <a:r>
              <a:rPr lang="fr-FR" sz="2200" dirty="0"/>
              <a:t>)</a:t>
            </a:r>
            <a:endParaRPr lang="en-US" sz="22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A108DD4-62C7-FB7F-DD01-E8DEA74C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007" y="4289170"/>
            <a:ext cx="735317" cy="73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35AB902F-8092-C243-3036-7CE389FB6D78}"/>
              </a:ext>
            </a:extLst>
          </p:cNvPr>
          <p:cNvSpPr/>
          <p:nvPr/>
        </p:nvSpPr>
        <p:spPr>
          <a:xfrm>
            <a:off x="7488923" y="1668262"/>
            <a:ext cx="1287780" cy="1203960"/>
          </a:xfrm>
          <a:prstGeom prst="ellipse">
            <a:avLst/>
          </a:prstGeom>
          <a:noFill/>
          <a:ln w="57150">
            <a:solidFill>
              <a:srgbClr val="00A3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1D7C6EF-CAA1-15FB-A871-425199666581}"/>
              </a:ext>
            </a:extLst>
          </p:cNvPr>
          <p:cNvSpPr txBox="1"/>
          <p:nvPr/>
        </p:nvSpPr>
        <p:spPr>
          <a:xfrm>
            <a:off x="7621138" y="1999592"/>
            <a:ext cx="1023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00A3BB"/>
                </a:solidFill>
              </a:rPr>
              <a:t>337 actions</a:t>
            </a:r>
          </a:p>
          <a:p>
            <a:pPr algn="ctr"/>
            <a:r>
              <a:rPr lang="fr-FR" sz="1200" dirty="0"/>
              <a:t> </a:t>
            </a:r>
            <a:r>
              <a:rPr lang="fr-FR" sz="1200" b="1" dirty="0">
                <a:solidFill>
                  <a:srgbClr val="93C01F"/>
                </a:solidFill>
              </a:rPr>
              <a:t>menées</a:t>
            </a:r>
          </a:p>
          <a:p>
            <a:pPr algn="ctr"/>
            <a:r>
              <a:rPr lang="fr-FR" sz="1200" b="1" dirty="0">
                <a:solidFill>
                  <a:srgbClr val="93C01F"/>
                </a:solidFill>
              </a:rPr>
              <a:t> </a:t>
            </a:r>
            <a:r>
              <a:rPr lang="fr-FR" sz="1200" b="1" dirty="0">
                <a:solidFill>
                  <a:srgbClr val="C00000"/>
                </a:solidFill>
              </a:rPr>
              <a:t>en 10 ans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15FA0A7-7133-5DDF-32EF-9F852454A1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524" y="1309787"/>
            <a:ext cx="675817" cy="654496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036CC7A-86AB-1AAC-653D-7479DC2960AE}"/>
              </a:ext>
            </a:extLst>
          </p:cNvPr>
          <p:cNvCxnSpPr/>
          <p:nvPr/>
        </p:nvCxnSpPr>
        <p:spPr>
          <a:xfrm>
            <a:off x="556260" y="2411928"/>
            <a:ext cx="6454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04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6828" y="1785534"/>
            <a:ext cx="8399402" cy="912270"/>
          </a:xfrm>
        </p:spPr>
        <p:txBody>
          <a:bodyPr/>
          <a:lstStyle/>
          <a:p>
            <a:r>
              <a:rPr lang="fr-FR" dirty="0"/>
              <a:t>2. Bilan des actions 2025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236B88-FC48-BE1A-B619-0D81F658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77" y="2751699"/>
            <a:ext cx="1679686" cy="167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613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AF9C-9C9B-69FA-BC6E-F7FD22AF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F6D1B36-7D8D-12CF-DA4C-DC264ABA11B8}"/>
              </a:ext>
            </a:extLst>
          </p:cNvPr>
          <p:cNvCxnSpPr>
            <a:cxnSpLocks/>
          </p:cNvCxnSpPr>
          <p:nvPr/>
        </p:nvCxnSpPr>
        <p:spPr>
          <a:xfrm flipV="1">
            <a:off x="4775614" y="2908199"/>
            <a:ext cx="3122012" cy="7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896BC3D4-2924-BBFE-17A3-942E9C4B49B7}"/>
              </a:ext>
            </a:extLst>
          </p:cNvPr>
          <p:cNvCxnSpPr>
            <a:cxnSpLocks/>
          </p:cNvCxnSpPr>
          <p:nvPr/>
        </p:nvCxnSpPr>
        <p:spPr>
          <a:xfrm flipV="1">
            <a:off x="6604058" y="4383086"/>
            <a:ext cx="1175948" cy="1260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96C7E20E-6524-1BC5-0506-BE8B6DB70481}"/>
              </a:ext>
            </a:extLst>
          </p:cNvPr>
          <p:cNvCxnSpPr>
            <a:cxnSpLocks/>
          </p:cNvCxnSpPr>
          <p:nvPr/>
        </p:nvCxnSpPr>
        <p:spPr>
          <a:xfrm>
            <a:off x="4539383" y="3274998"/>
            <a:ext cx="1109256" cy="113521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B1D686F-F63F-B8B8-4DDD-C2C231B2B1E6}"/>
              </a:ext>
            </a:extLst>
          </p:cNvPr>
          <p:cNvCxnSpPr>
            <a:cxnSpLocks/>
          </p:cNvCxnSpPr>
          <p:nvPr/>
        </p:nvCxnSpPr>
        <p:spPr>
          <a:xfrm flipV="1">
            <a:off x="4957479" y="1410374"/>
            <a:ext cx="755900" cy="4076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itre 4">
            <a:extLst>
              <a:ext uri="{FF2B5EF4-FFF2-40B4-BE49-F238E27FC236}">
                <a16:creationId xmlns:a16="http://schemas.microsoft.com/office/drawing/2014/main" id="{AF21831F-E590-5A73-BCF1-5552DF2B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32" y="0"/>
            <a:ext cx="7838440" cy="766761"/>
          </a:xfrm>
        </p:spPr>
        <p:txBody>
          <a:bodyPr/>
          <a:lstStyle/>
          <a:p>
            <a:r>
              <a:rPr lang="fr-FR" sz="2200" dirty="0"/>
              <a:t>2. Bilan des actions 2025 en quelques chiffres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FF52DAC-B74D-FD46-216A-E16CCD2E77D0}"/>
              </a:ext>
            </a:extLst>
          </p:cNvPr>
          <p:cNvSpPr/>
          <p:nvPr/>
        </p:nvSpPr>
        <p:spPr>
          <a:xfrm>
            <a:off x="334249" y="2673414"/>
            <a:ext cx="1378520" cy="125407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3 </a:t>
            </a:r>
          </a:p>
          <a:p>
            <a:pPr algn="ctr"/>
            <a:r>
              <a:rPr lang="fr-FR" sz="1400" b="1" dirty="0"/>
              <a:t>ateliers collectifs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829FFDE-F47B-12CB-3E14-845A2AB31438}"/>
              </a:ext>
            </a:extLst>
          </p:cNvPr>
          <p:cNvSpPr/>
          <p:nvPr/>
        </p:nvSpPr>
        <p:spPr>
          <a:xfrm>
            <a:off x="942098" y="1625375"/>
            <a:ext cx="1649158" cy="146709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20</a:t>
            </a:r>
            <a:r>
              <a:rPr lang="fr-FR" sz="1400" b="1" dirty="0"/>
              <a:t> </a:t>
            </a:r>
            <a:r>
              <a:rPr lang="fr-FR" sz="1300" b="1" dirty="0"/>
              <a:t>webinaires / Conférences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37AC7C7-FE79-8F2C-0439-69761BAAA574}"/>
              </a:ext>
            </a:extLst>
          </p:cNvPr>
          <p:cNvSpPr/>
          <p:nvPr/>
        </p:nvSpPr>
        <p:spPr>
          <a:xfrm>
            <a:off x="1513536" y="2778047"/>
            <a:ext cx="1490154" cy="133066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7 </a:t>
            </a:r>
          </a:p>
          <a:p>
            <a:pPr algn="ctr"/>
            <a:r>
              <a:rPr lang="fr-FR" b="1" dirty="0"/>
              <a:t>sessions de RDV individuels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93FEEA7-BBB3-B8C1-C228-B44276A48A80}"/>
              </a:ext>
            </a:extLst>
          </p:cNvPr>
          <p:cNvSpPr/>
          <p:nvPr/>
        </p:nvSpPr>
        <p:spPr>
          <a:xfrm>
            <a:off x="1712769" y="482629"/>
            <a:ext cx="1596407" cy="149540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1256</a:t>
            </a:r>
            <a:r>
              <a:rPr lang="fr-FR" sz="1400" b="1" dirty="0"/>
              <a:t> participants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95B6AE8-3345-6F0F-1FBC-AFDF1B8100B2}"/>
              </a:ext>
            </a:extLst>
          </p:cNvPr>
          <p:cNvSpPr/>
          <p:nvPr/>
        </p:nvSpPr>
        <p:spPr>
          <a:xfrm>
            <a:off x="7220238" y="2263762"/>
            <a:ext cx="1120877" cy="12262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r>
              <a:rPr lang="fr-FR" b="1" dirty="0"/>
              <a:t>Solidarité</a:t>
            </a:r>
          </a:p>
          <a:p>
            <a:pPr algn="ctr"/>
            <a:r>
              <a:rPr lang="fr-FR" b="1" dirty="0">
                <a:solidFill>
                  <a:schemeClr val="accent4">
                    <a:lumMod val="90000"/>
                  </a:schemeClr>
                </a:solidFill>
              </a:rPr>
              <a:t>4 actions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9A0C7D9-8D3F-7141-CFC7-1A7FF7FA9200}"/>
              </a:ext>
            </a:extLst>
          </p:cNvPr>
          <p:cNvSpPr/>
          <p:nvPr/>
        </p:nvSpPr>
        <p:spPr>
          <a:xfrm>
            <a:off x="5632584" y="2245842"/>
            <a:ext cx="1120877" cy="12262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r>
              <a:rPr lang="fr-FR" b="1" dirty="0"/>
              <a:t>D&amp;I</a:t>
            </a:r>
          </a:p>
          <a:p>
            <a:pPr algn="ctr"/>
            <a:r>
              <a:rPr lang="fr-FR" b="1" dirty="0">
                <a:solidFill>
                  <a:schemeClr val="accent4">
                    <a:lumMod val="90000"/>
                  </a:schemeClr>
                </a:solidFill>
              </a:rPr>
              <a:t>12 actions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F504B6E6-6BA0-956D-7B44-28829904C41A}"/>
              </a:ext>
            </a:extLst>
          </p:cNvPr>
          <p:cNvSpPr/>
          <p:nvPr/>
        </p:nvSpPr>
        <p:spPr>
          <a:xfrm>
            <a:off x="5614877" y="3693343"/>
            <a:ext cx="1171345" cy="12540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r>
              <a:rPr lang="fr-FR" b="1" dirty="0"/>
              <a:t>Parentalité</a:t>
            </a:r>
          </a:p>
          <a:p>
            <a:pPr algn="ctr"/>
            <a:r>
              <a:rPr lang="fr-FR" b="1" dirty="0">
                <a:solidFill>
                  <a:schemeClr val="accent4">
                    <a:lumMod val="90000"/>
                  </a:schemeClr>
                </a:solidFill>
              </a:rPr>
              <a:t>4 actions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C890364-9DE3-04BA-AF64-BDEBE430E656}"/>
              </a:ext>
            </a:extLst>
          </p:cNvPr>
          <p:cNvSpPr/>
          <p:nvPr/>
        </p:nvSpPr>
        <p:spPr>
          <a:xfrm>
            <a:off x="6987190" y="3662863"/>
            <a:ext cx="1411607" cy="1275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r>
              <a:rPr lang="fr-FR" b="1" dirty="0"/>
              <a:t>QVCT – Santé au travail</a:t>
            </a:r>
          </a:p>
          <a:p>
            <a:pPr algn="ctr"/>
            <a:r>
              <a:rPr lang="fr-FR" b="1" dirty="0">
                <a:solidFill>
                  <a:schemeClr val="accent4">
                    <a:lumMod val="90000"/>
                  </a:schemeClr>
                </a:solidFill>
              </a:rPr>
              <a:t>25 actions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34CD07A-E04F-D49A-A264-70AB8538BC3D}"/>
              </a:ext>
            </a:extLst>
          </p:cNvPr>
          <p:cNvSpPr/>
          <p:nvPr/>
        </p:nvSpPr>
        <p:spPr>
          <a:xfrm>
            <a:off x="5573881" y="902946"/>
            <a:ext cx="2767234" cy="113893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r>
              <a:rPr lang="fr-FR" sz="1200" b="1" dirty="0"/>
              <a:t>Lutte contre les discriminations / harcèlements</a:t>
            </a:r>
          </a:p>
          <a:p>
            <a:pPr algn="ctr"/>
            <a:r>
              <a:rPr lang="fr-FR" sz="1200" b="1" dirty="0">
                <a:solidFill>
                  <a:schemeClr val="accent4">
                    <a:lumMod val="90000"/>
                  </a:schemeClr>
                </a:solidFill>
              </a:rPr>
              <a:t>3 actions</a:t>
            </a:r>
          </a:p>
        </p:txBody>
      </p:sp>
      <p:sp>
        <p:nvSpPr>
          <p:cNvPr id="40" name="Oval 60">
            <a:extLst>
              <a:ext uri="{FF2B5EF4-FFF2-40B4-BE49-F238E27FC236}">
                <a16:creationId xmlns:a16="http://schemas.microsoft.com/office/drawing/2014/main" id="{E729AB6D-51ED-2A25-CE4D-792CC208843C}"/>
              </a:ext>
            </a:extLst>
          </p:cNvPr>
          <p:cNvSpPr>
            <a:spLocks noChangeAspect="1"/>
          </p:cNvSpPr>
          <p:nvPr/>
        </p:nvSpPr>
        <p:spPr>
          <a:xfrm>
            <a:off x="7471690" y="3739836"/>
            <a:ext cx="437080" cy="435791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r>
              <a:rPr lang="fr-FR" sz="800" kern="0" dirty="0">
                <a:solidFill>
                  <a:srgbClr val="7E93A7"/>
                </a:solidFill>
                <a:latin typeface="Trebuchet MS"/>
              </a:rPr>
              <a:t>0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6859B46B-856E-D941-F84C-E6BD41A6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136" y="3851809"/>
            <a:ext cx="229978" cy="244772"/>
          </a:xfrm>
          <a:prstGeom prst="rect">
            <a:avLst/>
          </a:prstGeom>
        </p:spPr>
      </p:pic>
      <p:sp>
        <p:nvSpPr>
          <p:cNvPr id="46" name="Oval 60">
            <a:extLst>
              <a:ext uri="{FF2B5EF4-FFF2-40B4-BE49-F238E27FC236}">
                <a16:creationId xmlns:a16="http://schemas.microsoft.com/office/drawing/2014/main" id="{2A0E685F-35FA-95B6-20BD-63F0896879FB}"/>
              </a:ext>
            </a:extLst>
          </p:cNvPr>
          <p:cNvSpPr>
            <a:spLocks noChangeAspect="1"/>
          </p:cNvSpPr>
          <p:nvPr/>
        </p:nvSpPr>
        <p:spPr>
          <a:xfrm>
            <a:off x="7562136" y="2332798"/>
            <a:ext cx="437080" cy="435791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endParaRPr lang="fr-FR" sz="800" kern="0" dirty="0">
              <a:solidFill>
                <a:srgbClr val="7E93A7"/>
              </a:solidFill>
              <a:latin typeface="Trebuchet MS"/>
            </a:endParaRPr>
          </a:p>
        </p:txBody>
      </p:sp>
      <p:sp>
        <p:nvSpPr>
          <p:cNvPr id="48" name="Oval 60">
            <a:extLst>
              <a:ext uri="{FF2B5EF4-FFF2-40B4-BE49-F238E27FC236}">
                <a16:creationId xmlns:a16="http://schemas.microsoft.com/office/drawing/2014/main" id="{A9C9DBEA-9378-AEFD-8B2B-540CD962264F}"/>
              </a:ext>
            </a:extLst>
          </p:cNvPr>
          <p:cNvSpPr>
            <a:spLocks noChangeAspect="1"/>
          </p:cNvSpPr>
          <p:nvPr/>
        </p:nvSpPr>
        <p:spPr>
          <a:xfrm>
            <a:off x="6755622" y="964800"/>
            <a:ext cx="437080" cy="435791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endParaRPr lang="fr-FR" sz="800" kern="0" dirty="0">
              <a:solidFill>
                <a:srgbClr val="7E93A7"/>
              </a:solidFill>
              <a:latin typeface="Trebuchet MS"/>
            </a:endParaRPr>
          </a:p>
        </p:txBody>
      </p:sp>
      <p:sp>
        <p:nvSpPr>
          <p:cNvPr id="49" name="Oval 60">
            <a:extLst>
              <a:ext uri="{FF2B5EF4-FFF2-40B4-BE49-F238E27FC236}">
                <a16:creationId xmlns:a16="http://schemas.microsoft.com/office/drawing/2014/main" id="{FEB3ABF6-F4A6-5102-D372-1EABBF4CB7D2}"/>
              </a:ext>
            </a:extLst>
          </p:cNvPr>
          <p:cNvSpPr>
            <a:spLocks noChangeAspect="1"/>
          </p:cNvSpPr>
          <p:nvPr/>
        </p:nvSpPr>
        <p:spPr>
          <a:xfrm>
            <a:off x="5974482" y="2318123"/>
            <a:ext cx="437080" cy="435791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endParaRPr lang="fr-FR" sz="800" kern="0" dirty="0">
              <a:solidFill>
                <a:srgbClr val="7E93A7"/>
              </a:solidFill>
              <a:latin typeface="Trebuchet MS"/>
            </a:endParaRPr>
          </a:p>
        </p:txBody>
      </p:sp>
      <p:sp>
        <p:nvSpPr>
          <p:cNvPr id="51" name="Oval 60">
            <a:extLst>
              <a:ext uri="{FF2B5EF4-FFF2-40B4-BE49-F238E27FC236}">
                <a16:creationId xmlns:a16="http://schemas.microsoft.com/office/drawing/2014/main" id="{86EA5DB2-BC06-E5B2-D0DA-F0FA221FCC9A}"/>
              </a:ext>
            </a:extLst>
          </p:cNvPr>
          <p:cNvSpPr>
            <a:spLocks noChangeAspect="1"/>
          </p:cNvSpPr>
          <p:nvPr/>
        </p:nvSpPr>
        <p:spPr>
          <a:xfrm>
            <a:off x="5977759" y="3815859"/>
            <a:ext cx="437080" cy="435791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endParaRPr lang="fr-FR" sz="800" kern="0" dirty="0">
              <a:solidFill>
                <a:srgbClr val="7E93A7"/>
              </a:solidFill>
              <a:latin typeface="Trebuchet MS"/>
            </a:endParaRP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63B5153A-96C6-D215-0759-5B8DE73A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112" y="2372273"/>
            <a:ext cx="329820" cy="329175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4A6217AD-93F7-4D36-8F25-66E378CE86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3749" y="1031997"/>
            <a:ext cx="291155" cy="301397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93996875-B67E-DD9C-043D-8A6292E28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112" y="3927490"/>
            <a:ext cx="306196" cy="211717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99228C1D-627C-4031-926A-0EFC92E77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726" y="2424706"/>
            <a:ext cx="233900" cy="230673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FE648CA2-EB0A-A15B-DA9B-E0549543ACE6}"/>
              </a:ext>
            </a:extLst>
          </p:cNvPr>
          <p:cNvSpPr/>
          <p:nvPr/>
        </p:nvSpPr>
        <p:spPr>
          <a:xfrm>
            <a:off x="3684070" y="3658025"/>
            <a:ext cx="1273409" cy="112775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enquêtes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969A956-DA4E-DA0F-508D-68A90C430292}"/>
              </a:ext>
            </a:extLst>
          </p:cNvPr>
          <p:cNvSpPr/>
          <p:nvPr/>
        </p:nvSpPr>
        <p:spPr>
          <a:xfrm>
            <a:off x="2619100" y="3634564"/>
            <a:ext cx="1273409" cy="112775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fr-FR" sz="1500" b="1" dirty="0">
                <a:solidFill>
                  <a:schemeClr val="bg1"/>
                </a:solidFill>
              </a:rPr>
              <a:t>charte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A3D2BBD-A7B7-E4A8-D87C-8C99D0C39461}"/>
              </a:ext>
            </a:extLst>
          </p:cNvPr>
          <p:cNvSpPr/>
          <p:nvPr/>
        </p:nvSpPr>
        <p:spPr>
          <a:xfrm>
            <a:off x="2500194" y="1193536"/>
            <a:ext cx="2767234" cy="271431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</a:rPr>
              <a:t>48 </a:t>
            </a:r>
          </a:p>
          <a:p>
            <a:pPr algn="ctr"/>
            <a:r>
              <a:rPr lang="fr-FR" sz="2800" b="1" dirty="0">
                <a:solidFill>
                  <a:schemeClr val="accent4"/>
                </a:solidFill>
              </a:rPr>
              <a:t>Actions réalisées</a:t>
            </a:r>
          </a:p>
        </p:txBody>
      </p:sp>
    </p:spTree>
    <p:extLst>
      <p:ext uri="{BB962C8B-B14F-4D97-AF65-F5344CB8AC3E}">
        <p14:creationId xmlns:p14="http://schemas.microsoft.com/office/powerpoint/2010/main" val="11168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DC481C1-82F3-3666-F050-EE684D8D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32" y="21165"/>
            <a:ext cx="7838440" cy="766761"/>
          </a:xfrm>
        </p:spPr>
        <p:txBody>
          <a:bodyPr/>
          <a:lstStyle/>
          <a:p>
            <a:r>
              <a:rPr lang="fr-FR" sz="2200" dirty="0"/>
              <a:t>2. Bilan des actions 2025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1928E21-D185-733A-78E2-FB134C786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520142"/>
              </p:ext>
            </p:extLst>
          </p:nvPr>
        </p:nvGraphicFramePr>
        <p:xfrm>
          <a:off x="364698" y="731498"/>
          <a:ext cx="8414604" cy="42537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207302">
                  <a:extLst>
                    <a:ext uri="{9D8B030D-6E8A-4147-A177-3AD203B41FA5}">
                      <a16:colId xmlns:a16="http://schemas.microsoft.com/office/drawing/2014/main" val="3434772242"/>
                    </a:ext>
                  </a:extLst>
                </a:gridCol>
                <a:gridCol w="4207302">
                  <a:extLst>
                    <a:ext uri="{9D8B030D-6E8A-4147-A177-3AD203B41FA5}">
                      <a16:colId xmlns:a16="http://schemas.microsoft.com/office/drawing/2014/main" val="4050978475"/>
                    </a:ext>
                  </a:extLst>
                </a:gridCol>
              </a:tblGrid>
              <a:tr h="364515">
                <a:tc gridSpan="2"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QVCT – Santé au travail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93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20744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fr-FR" sz="1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34693"/>
                  </a:ext>
                </a:extLst>
              </a:tr>
              <a:tr h="3771109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 dirty="0">
                        <a:solidFill>
                          <a:schemeClr val="tx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 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Gérer le stress au travail : transformer le stress en moteur de réussite 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(32 participants)</a:t>
                      </a:r>
                      <a:endParaRPr lang="fr-FR" sz="800" kern="1200" dirty="0">
                        <a:solidFill>
                          <a:schemeClr val="tx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 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 sommeil, un facteur de santé et de bien-être 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(26 participants)</a:t>
                      </a:r>
                      <a:endParaRPr lang="fr-FR" sz="800" kern="1200" dirty="0">
                        <a:solidFill>
                          <a:schemeClr val="tx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 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Gestion du temps et des priorités 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(58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 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La communication non violente pour diminuer les conflits au travail </a:t>
                      </a:r>
                      <a:r>
                        <a:rPr lang="fr-FR" sz="800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(19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indent="0"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fr-FR" sz="800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Dans le cadre de la semaine de la QVCT (juin 2025) :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RDV individuels dépistage du mélanome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(45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lvl="1" indent="-171450"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Intervention des </a:t>
                      </a:r>
                      <a:r>
                        <a:rPr lang="fr-FR" sz="800" kern="1200" dirty="0" err="1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Yogist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en open-space (posture et prévention TMS)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Réalité virtuelle pour prévenir l’épuisement professionnel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(32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Atelier de Sophrologie (SPST)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(10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RDV individuels de kinésithérapie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(18 participants)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noProof="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Ateliers avec une kinésithérapeute « Stress, maux de tête et cervicalgie » / « Douleurs lombaires, que faire pour s’en sortir ? »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(30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 B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ooster sa confiance avec l’hypnose 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(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19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santé mentale : « 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Les clés d’un cerveau en bonne santé 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(58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 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Améliorer ses usages numériques / Digital détox 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fr-FR" sz="800" kern="1200" noProof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(35 participants)</a:t>
                      </a:r>
                      <a:endParaRPr lang="fr-FR" sz="8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lvl="1" indent="-171450"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 </a:t>
                      </a:r>
                      <a:r>
                        <a:rPr lang="fr-FR" sz="800" i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Apprendre à mieux gérer son stress avec la sophrologie 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</a:p>
                    <a:p>
                      <a:pPr marL="628650" lvl="1" indent="-171450"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Communication des résultats et plan d’actions enquête RPS et QVCT 2024</a:t>
                      </a:r>
                      <a:endParaRPr lang="fr-FR" sz="700" dirty="0"/>
                    </a:p>
                  </a:txBody>
                  <a:tcPr>
                    <a:lnL w="12700" cap="flat" cmpd="sng" algn="ctr">
                      <a:solidFill>
                        <a:srgbClr val="7E93A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endParaRPr lang="fr-FR" sz="800" b="1" kern="1200" dirty="0">
                        <a:solidFill>
                          <a:schemeClr val="tx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Intervention des </a:t>
                      </a:r>
                      <a:r>
                        <a:rPr lang="fr-FR" sz="800" b="1" kern="1200" dirty="0" err="1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Yogist</a:t>
                      </a:r>
                      <a:r>
                        <a:rPr lang="fr-FR" sz="800" b="1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en open-space </a:t>
                      </a:r>
                      <a:r>
                        <a:rPr lang="fr-FR" sz="800" kern="1200" dirty="0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(posture et prévention TMS) </a:t>
                      </a:r>
                      <a:r>
                        <a:rPr lang="fr-FR" sz="800" i="0" kern="120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(88 participants)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Webinaires </a:t>
                      </a:r>
                      <a:r>
                        <a:rPr kumimoji="0" lang="fr-FR" sz="8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Yogist</a:t>
                      </a:r>
                      <a:r>
                        <a:rPr kumimoji="0" lang="fr-FR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« </a:t>
                      </a:r>
                      <a:r>
                        <a:rPr kumimoji="0" lang="fr-FR" sz="8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30 minutes pour retrouver de l’énergie 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lang="fr-FR" sz="800" i="1" kern="120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fr-FR" sz="800" i="0" kern="120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(21 participants)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« </a:t>
                      </a:r>
                      <a:r>
                        <a:rPr kumimoji="0" lang="fr-FR" sz="8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30 minutes pour reposer mes yeux fatigués par les écrans 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lang="fr-FR" sz="800" i="0" kern="120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(30 participants)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« </a:t>
                      </a:r>
                      <a:r>
                        <a:rPr kumimoji="0" lang="fr-FR" sz="8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30 minutes pour soulager mon dos 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lang="fr-FR" sz="800" i="1" kern="120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fr-FR" sz="800" i="0" kern="120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(21 participants)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« </a:t>
                      </a:r>
                      <a:r>
                        <a:rPr kumimoji="0" lang="fr-FR" sz="8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30 minutes pour soulager mon dos 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kumimoji="0" lang="fr-FR" sz="8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fr-FR" sz="800" i="0" kern="120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(16 participants)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Enquête RPS et QVCT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93A7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(61% de participation)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Dépistages auditifs avec SPST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93A7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(57participants)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Dépistages visuels avec SPST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93A7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(9 participants)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fr-FR" sz="800" b="0" dirty="0">
                          <a:solidFill>
                            <a:srgbClr val="C00000"/>
                          </a:solidFill>
                        </a:rPr>
                        <a:t>Dans le cadre d’Octobre rose :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Stand de prévention : distribution de ruban roses et de plaquette d’information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RDV individuels avec professionnel de santé dépistage cancers féminins 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93A7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(33 participants)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C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fr-FR" sz="800" b="0" dirty="0">
                          <a:solidFill>
                            <a:srgbClr val="C00000"/>
                          </a:solidFill>
                        </a:rPr>
                        <a:t>Dans le cadre de </a:t>
                      </a:r>
                      <a:r>
                        <a:rPr lang="fr-FR" sz="800" b="0" dirty="0" err="1">
                          <a:solidFill>
                            <a:srgbClr val="C00000"/>
                          </a:solidFill>
                        </a:rPr>
                        <a:t>Movember</a:t>
                      </a:r>
                      <a:r>
                        <a:rPr lang="fr-FR" sz="800" b="0" dirty="0">
                          <a:solidFill>
                            <a:srgbClr val="C00000"/>
                          </a:solidFill>
                        </a:rPr>
                        <a:t> / Novembre bleu :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RDV individuels avec professionnel de santé dépistage cancers masculins 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93A7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(10 participants)</a:t>
                      </a:r>
                      <a:endParaRPr kumimoji="0" lang="fr-F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847837"/>
                  </a:ext>
                </a:extLst>
              </a:tr>
            </a:tbl>
          </a:graphicData>
        </a:graphic>
      </p:graphicFrame>
      <p:sp>
        <p:nvSpPr>
          <p:cNvPr id="54" name="Oval 60">
            <a:extLst>
              <a:ext uri="{FF2B5EF4-FFF2-40B4-BE49-F238E27FC236}">
                <a16:creationId xmlns:a16="http://schemas.microsoft.com/office/drawing/2014/main" id="{48E19B90-1E7E-58DA-5787-74E4B7BF6473}"/>
              </a:ext>
            </a:extLst>
          </p:cNvPr>
          <p:cNvSpPr>
            <a:spLocks noChangeAspect="1"/>
          </p:cNvSpPr>
          <p:nvPr/>
        </p:nvSpPr>
        <p:spPr>
          <a:xfrm>
            <a:off x="270871" y="453741"/>
            <a:ext cx="609206" cy="607410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endParaRPr lang="fr-FR" sz="800" kern="0" dirty="0">
              <a:solidFill>
                <a:srgbClr val="7E93A7"/>
              </a:solidFill>
              <a:latin typeface="Trebuchet MS"/>
            </a:endParaRPr>
          </a:p>
        </p:txBody>
      </p:sp>
      <p:pic>
        <p:nvPicPr>
          <p:cNvPr id="64" name="Image 63">
            <a:extLst>
              <a:ext uri="{FF2B5EF4-FFF2-40B4-BE49-F238E27FC236}">
                <a16:creationId xmlns:a16="http://schemas.microsoft.com/office/drawing/2014/main" id="{57D1719D-F195-DBBE-AB51-46AA6E9F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01" y="586863"/>
            <a:ext cx="320546" cy="341166"/>
          </a:xfrm>
          <a:prstGeom prst="rect">
            <a:avLst/>
          </a:prstGeom>
        </p:spPr>
      </p:pic>
      <p:pic>
        <p:nvPicPr>
          <p:cNvPr id="75" name="Picture 2">
            <a:extLst>
              <a:ext uri="{FF2B5EF4-FFF2-40B4-BE49-F238E27FC236}">
                <a16:creationId xmlns:a16="http://schemas.microsoft.com/office/drawing/2014/main" id="{62F67AD3-E3B2-DA29-7AE1-2F8378B95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502" y="4347738"/>
            <a:ext cx="579944" cy="57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F7EAC4E-0034-2058-1870-E43C573C7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970" y="4913478"/>
            <a:ext cx="151083" cy="14478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2D87186-5F01-8BD1-8B44-9EA2EE5EBFBF}"/>
              </a:ext>
            </a:extLst>
          </p:cNvPr>
          <p:cNvSpPr txBox="1"/>
          <p:nvPr/>
        </p:nvSpPr>
        <p:spPr>
          <a:xfrm>
            <a:off x="7160927" y="4898178"/>
            <a:ext cx="14901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dirty="0">
                <a:solidFill>
                  <a:schemeClr val="bg2">
                    <a:lumMod val="50000"/>
                  </a:schemeClr>
                </a:solidFill>
              </a:rPr>
              <a:t>Actions de niveau Groupe CACEIS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DA73AA0-AEB5-683F-9A3D-0F1397376CB4}"/>
              </a:ext>
            </a:extLst>
          </p:cNvPr>
          <p:cNvGraphicFramePr>
            <a:graphicFrameLocks noGrp="1"/>
          </p:cNvGraphicFramePr>
          <p:nvPr/>
        </p:nvGraphicFramePr>
        <p:xfrm>
          <a:off x="9402417" y="3518452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206661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solidFill>
                        <a:schemeClr val="accent2"/>
                      </a:solidFill>
                      <a:prstDash val="sysDot"/>
                    </a:lnL>
                    <a:lnR w="12700" cmpd="sng">
                      <a:solidFill>
                        <a:schemeClr val="accent2"/>
                      </a:solidFill>
                      <a:prstDash val="sysDot"/>
                    </a:lnR>
                    <a:lnT w="12700" cmpd="sng">
                      <a:solidFill>
                        <a:schemeClr val="accent2"/>
                      </a:solidFill>
                      <a:prstDash val="sysDot"/>
                    </a:lnT>
                    <a:lnB w="12700" cmpd="sng">
                      <a:solidFill>
                        <a:schemeClr val="accent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922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14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F65A2-D0E0-EE9A-99B7-E38A8C2F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B17EE82-3EA5-7ECD-31BE-44CA8BF7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32" y="21165"/>
            <a:ext cx="7838440" cy="766761"/>
          </a:xfrm>
        </p:spPr>
        <p:txBody>
          <a:bodyPr/>
          <a:lstStyle/>
          <a:p>
            <a:r>
              <a:rPr lang="fr-FR" sz="2200" dirty="0"/>
              <a:t>2. Bilan des actions 2025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F846D0B-1D2E-3B64-B4C8-7D023F6FD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351670"/>
              </p:ext>
            </p:extLst>
          </p:nvPr>
        </p:nvGraphicFramePr>
        <p:xfrm>
          <a:off x="301343" y="754064"/>
          <a:ext cx="8594036" cy="406419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297018">
                  <a:extLst>
                    <a:ext uri="{9D8B030D-6E8A-4147-A177-3AD203B41FA5}">
                      <a16:colId xmlns:a16="http://schemas.microsoft.com/office/drawing/2014/main" val="3434772242"/>
                    </a:ext>
                  </a:extLst>
                </a:gridCol>
                <a:gridCol w="4297018">
                  <a:extLst>
                    <a:ext uri="{9D8B030D-6E8A-4147-A177-3AD203B41FA5}">
                      <a16:colId xmlns:a16="http://schemas.microsoft.com/office/drawing/2014/main" val="4050978475"/>
                    </a:ext>
                  </a:extLst>
                </a:gridCol>
              </a:tblGrid>
              <a:tr h="42533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 Diversité &amp; Inclusion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93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Lutte contre les </a:t>
                      </a:r>
                    </a:p>
                    <a:p>
                      <a:pPr algn="ctr"/>
                      <a:r>
                        <a:rPr lang="fr-FR" sz="1200" dirty="0"/>
                        <a:t>    discriminations / harcèlements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0207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fr-FR" sz="1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394841"/>
                  </a:ext>
                </a:extLst>
              </a:tr>
              <a:tr h="349015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E-learning obligatoire sur les biais inconscients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Baromètre Diversité et Inclusion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Conférence retraite pour collaborateurs de – de 55 ans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(51 participants)</a:t>
                      </a:r>
                      <a:endParaRPr kumimoji="0" lang="fr-F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Conférence retraite pour collaborateurs + de 55 ans 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(67 participants)</a:t>
                      </a:r>
                      <a:endParaRPr kumimoji="0" lang="fr-F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RDV individuels retraite (Malakoff Humanis)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(102 participants)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Dans le cadre de la semaine de la diversité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Spectacle de théâtre « </a:t>
                      </a:r>
                      <a:r>
                        <a:rPr kumimoji="0" lang="fr-FR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L’intergénérationnel et vous 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(60 participants)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Interview « </a:t>
                      </a:r>
                      <a:r>
                        <a:rPr kumimoji="0" lang="fr-FR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Following the </a:t>
                      </a:r>
                      <a:r>
                        <a:rPr kumimoji="0" lang="fr-FR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sun</a:t>
                      </a:r>
                      <a:r>
                        <a:rPr kumimoji="0" lang="fr-FR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 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: témoignages de 5 collaborateurs (Malaisie, Canada, Espagne, Irlande et Pays-Bas)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GREAT Group : Action sur les rôles modèles féminins pour les hommes (interview d’Aurélien VEIL)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rgbClr val="C00000"/>
                          </a:solidFill>
                        </a:rPr>
                        <a:t>Dans le cadre du mois de la diversité </a:t>
                      </a:r>
                      <a:r>
                        <a:rPr lang="fr-FR" sz="900" b="0" i="1" dirty="0">
                          <a:solidFill>
                            <a:srgbClr val="C00000"/>
                          </a:solidFill>
                        </a:rPr>
                        <a:t>(novembre) </a:t>
                      </a:r>
                      <a:r>
                        <a:rPr lang="fr-FR" sz="900" b="0" dirty="0">
                          <a:solidFill>
                            <a:srgbClr val="C00000"/>
                          </a:solidFill>
                        </a:rPr>
                        <a:t>:</a:t>
                      </a:r>
                      <a:endParaRPr kumimoji="0" lang="fr-F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sur la </a:t>
                      </a:r>
                      <a:r>
                        <a:rPr kumimoji="0" lang="fr-F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neuroatypie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: handicap invisible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(17 participants)</a:t>
                      </a:r>
                      <a:endParaRPr kumimoji="0" lang="fr-F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Conférence sur l’égalité femmes-hommes « </a:t>
                      </a:r>
                      <a:r>
                        <a:rPr kumimoji="0" lang="fr-FR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Où (en) sont les hommes ?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(23 participants)</a:t>
                      </a:r>
                      <a:endParaRPr kumimoji="0" lang="fr-F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Communication interne « Handicap : bilan 2024 et perspective 2025 »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Résultats du baromètre D&amp;I</a:t>
                      </a:r>
                    </a:p>
                  </a:txBody>
                  <a:tcPr>
                    <a:lnL w="12700" cap="flat" cmpd="sng" algn="ctr">
                      <a:solidFill>
                        <a:srgbClr val="7E93A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Charte sur la prévention et le traitement du harcèlement moral et sexuel et les agissements sexistes au sein de CACEIS en France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Guidelines Groupe sur la prévention et le traitement du harcèlement moral et sexuel et les agissements sexistes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Campagne de communication de la Compliance sur la Diversité et l’Inclusion et la non-discrimination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847837"/>
                  </a:ext>
                </a:extLst>
              </a:tr>
            </a:tbl>
          </a:graphicData>
        </a:graphic>
      </p:graphicFrame>
      <p:pic>
        <p:nvPicPr>
          <p:cNvPr id="75" name="Picture 2">
            <a:extLst>
              <a:ext uri="{FF2B5EF4-FFF2-40B4-BE49-F238E27FC236}">
                <a16:creationId xmlns:a16="http://schemas.microsoft.com/office/drawing/2014/main" id="{28208566-B6BF-15A5-D0BE-D80CD0470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502" y="4347738"/>
            <a:ext cx="579944" cy="57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0">
            <a:extLst>
              <a:ext uri="{FF2B5EF4-FFF2-40B4-BE49-F238E27FC236}">
                <a16:creationId xmlns:a16="http://schemas.microsoft.com/office/drawing/2014/main" id="{72902A16-75C2-0DDF-5D5E-1A244F8AF938}"/>
              </a:ext>
            </a:extLst>
          </p:cNvPr>
          <p:cNvSpPr>
            <a:spLocks noChangeAspect="1"/>
          </p:cNvSpPr>
          <p:nvPr/>
        </p:nvSpPr>
        <p:spPr>
          <a:xfrm>
            <a:off x="179584" y="560156"/>
            <a:ext cx="603214" cy="601435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endParaRPr lang="fr-FR" sz="800" kern="0" dirty="0">
              <a:solidFill>
                <a:srgbClr val="7E93A7"/>
              </a:solidFill>
              <a:latin typeface="Trebuchet M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406140-3B20-3B1E-D185-E9855A081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57" y="660463"/>
            <a:ext cx="392344" cy="39157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A917411-2B33-507D-167C-08E7E936D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7" y="1371557"/>
            <a:ext cx="151083" cy="14478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AF637C1-3B82-E4FD-33A3-0DE3E9052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881" y="4805794"/>
            <a:ext cx="151083" cy="14478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6FB9047-F5D5-9973-0E30-4EE17350F256}"/>
              </a:ext>
            </a:extLst>
          </p:cNvPr>
          <p:cNvSpPr txBox="1"/>
          <p:nvPr/>
        </p:nvSpPr>
        <p:spPr>
          <a:xfrm>
            <a:off x="7076790" y="4778246"/>
            <a:ext cx="138688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dirty="0">
                <a:solidFill>
                  <a:schemeClr val="bg2">
                    <a:lumMod val="50000"/>
                  </a:schemeClr>
                </a:solidFill>
              </a:rPr>
              <a:t>Actions de niveau Groupe CACEIS</a:t>
            </a:r>
          </a:p>
        </p:txBody>
      </p:sp>
      <p:sp>
        <p:nvSpPr>
          <p:cNvPr id="8" name="Oval 60">
            <a:extLst>
              <a:ext uri="{FF2B5EF4-FFF2-40B4-BE49-F238E27FC236}">
                <a16:creationId xmlns:a16="http://schemas.microsoft.com/office/drawing/2014/main" id="{8033B95A-6DBE-625B-6BA5-BC0B4A1EAAB5}"/>
              </a:ext>
            </a:extLst>
          </p:cNvPr>
          <p:cNvSpPr>
            <a:spLocks noChangeAspect="1"/>
          </p:cNvSpPr>
          <p:nvPr/>
        </p:nvSpPr>
        <p:spPr>
          <a:xfrm>
            <a:off x="4581608" y="560155"/>
            <a:ext cx="603214" cy="601435"/>
          </a:xfrm>
          <a:prstGeom prst="ellipse">
            <a:avLst/>
          </a:prstGeom>
          <a:solidFill>
            <a:schemeClr val="bg1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lnSpc>
                <a:spcPct val="95000"/>
              </a:lnSpc>
              <a:defRPr/>
            </a:pPr>
            <a:endParaRPr lang="fr-FR" sz="800" kern="0" dirty="0">
              <a:solidFill>
                <a:srgbClr val="7E93A7"/>
              </a:solidFill>
              <a:latin typeface="Trebuchet MS"/>
            </a:endParaRPr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ACFA9D80-5FEE-C6FC-063F-0F2233E6F2D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8164" y="671782"/>
            <a:ext cx="330101" cy="34171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095C346-5C1E-78AC-F06E-094E08877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7" y="1576260"/>
            <a:ext cx="151083" cy="14478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3E01CE6-E08F-E691-EB09-4D699A7CC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7" y="2868775"/>
            <a:ext cx="151083" cy="14478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403FFC5-7A8C-F8E0-AF81-EB97395A8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6" y="3226097"/>
            <a:ext cx="151083" cy="14478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BA5186A-27AE-D789-81BF-46434AA3F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93" y="4565316"/>
            <a:ext cx="151083" cy="14478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086930C-9AA3-2C1D-A2DE-27D6B9D6A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655" y="1733267"/>
            <a:ext cx="151083" cy="14478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ED5BA17-311A-DA52-8897-D02D6788B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655" y="2071963"/>
            <a:ext cx="151083" cy="14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8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DC481C1-82F3-3666-F050-EE684D8D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dirty="0"/>
              <a:t>2. Bilan des actions 2025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1928E21-D185-733A-78E2-FB134C786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92298"/>
              </p:ext>
            </p:extLst>
          </p:nvPr>
        </p:nvGraphicFramePr>
        <p:xfrm>
          <a:off x="215900" y="931975"/>
          <a:ext cx="8768546" cy="366435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84273">
                  <a:extLst>
                    <a:ext uri="{9D8B030D-6E8A-4147-A177-3AD203B41FA5}">
                      <a16:colId xmlns:a16="http://schemas.microsoft.com/office/drawing/2014/main" val="4050978475"/>
                    </a:ext>
                  </a:extLst>
                </a:gridCol>
                <a:gridCol w="4384273">
                  <a:extLst>
                    <a:ext uri="{9D8B030D-6E8A-4147-A177-3AD203B41FA5}">
                      <a16:colId xmlns:a16="http://schemas.microsoft.com/office/drawing/2014/main" val="1727741992"/>
                    </a:ext>
                  </a:extLst>
                </a:gridCol>
              </a:tblGrid>
              <a:tr h="43447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 </a:t>
                      </a:r>
                      <a:r>
                        <a:rPr lang="fr-FR" sz="1600" dirty="0"/>
                        <a:t>Parentalité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Solidarité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60207447"/>
                  </a:ext>
                </a:extLst>
              </a:tr>
              <a:tr h="148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75435"/>
                  </a:ext>
                </a:extLst>
              </a:tr>
              <a:tr h="3080888">
                <a:tc>
                  <a:txBody>
                    <a:bodyPr/>
                    <a:lstStyle/>
                    <a:p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Conférences </a:t>
                      </a:r>
                      <a:r>
                        <a:rPr kumimoji="0" lang="fr-FR" sz="9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Anacours</a:t>
                      </a: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: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« 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Tout comprendre et savoir sur </a:t>
                      </a:r>
                      <a:r>
                        <a:rPr kumimoji="0" lang="fr-FR" sz="9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Parcoursup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et les admissions  de l’enseignement supérieur 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(56 participants)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« 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Construire son projet d’orientation en classe de 3</a:t>
                      </a:r>
                      <a:r>
                        <a:rPr kumimoji="0" lang="fr-FR" sz="900" b="0" i="1" u="none" strike="noStrike" kern="1200" cap="none" spc="0" normalizeH="0" baseline="3000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ème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 et 2</a:t>
                      </a:r>
                      <a:r>
                        <a:rPr kumimoji="0" lang="fr-FR" sz="900" b="0" i="1" u="none" strike="noStrike" kern="1200" cap="none" spc="0" normalizeH="0" baseline="3000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nde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 </a:t>
                      </a: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(45 participants)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« La préparation aux épreuves orales en classe de 3</a:t>
                      </a:r>
                      <a:r>
                        <a:rPr kumimoji="0" lang="fr-FR" sz="900" b="0" i="1" u="none" strike="noStrike" kern="1200" cap="none" spc="0" normalizeH="0" baseline="3000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ème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, 2</a:t>
                      </a:r>
                      <a:r>
                        <a:rPr kumimoji="0" lang="fr-FR" sz="900" b="0" i="1" u="none" strike="noStrike" kern="1200" cap="none" spc="0" normalizeH="0" baseline="3000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nde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 et Terminale » 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(29 participants)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>
                            <a:lumMod val="60000"/>
                            <a:lumOff val="40000"/>
                          </a:srgbClr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Webinaire « </a:t>
                      </a:r>
                      <a:r>
                        <a:rPr kumimoji="0" lang="fr-FR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Parentalité : un vivier de compétences professionnelles </a:t>
                      </a:r>
                      <a:r>
                        <a:rPr kumimoji="0" lang="fr-F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»</a:t>
                      </a:r>
                      <a:r>
                        <a:rPr kumimoji="0" lang="fr-FR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93A7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kumimoji="0" lang="fr-FR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93A7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(12 participants)</a:t>
                      </a:r>
                      <a:endParaRPr kumimoji="0" lang="fr-FR" sz="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2BEC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EC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Be </a:t>
                      </a:r>
                      <a:r>
                        <a:rPr kumimoji="0" lang="fr-FR" sz="9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Generous</a:t>
                      </a: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– 14</a:t>
                      </a:r>
                      <a:r>
                        <a:rPr kumimoji="0" lang="fr-FR" sz="900" b="0" i="0" u="none" strike="noStrike" kern="1200" cap="none" spc="0" normalizeH="0" baseline="3000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ème</a:t>
                      </a: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édition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 associations candidates et subventionnées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J’agis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216 heures réalisées soit 28 jours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33 participants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16 défis réalisés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17 associations aidées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Dans le cadre du Téléthon </a:t>
                      </a:r>
                      <a:r>
                        <a:rPr kumimoji="0" lang="fr-FR" sz="9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(décembre) </a:t>
                      </a: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Participation à une course avec présence d’un stand CACEIS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2575F"/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Don de 4000€</a:t>
                      </a:r>
                      <a:endParaRPr kumimoji="0" lang="fr-FR" sz="8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2575F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2BEC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847837"/>
                  </a:ext>
                </a:extLst>
              </a:tr>
            </a:tbl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0074F925-EA8D-A570-A724-FEF5769C8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502" y="4496941"/>
            <a:ext cx="579944" cy="57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Oval 60">
            <a:extLst>
              <a:ext uri="{FF2B5EF4-FFF2-40B4-BE49-F238E27FC236}">
                <a16:creationId xmlns:a16="http://schemas.microsoft.com/office/drawing/2014/main" id="{AF464D37-E51D-F5E6-F7A0-0A24EC3C4B9C}"/>
              </a:ext>
            </a:extLst>
          </p:cNvPr>
          <p:cNvSpPr>
            <a:spLocks noChangeAspect="1"/>
          </p:cNvSpPr>
          <p:nvPr/>
        </p:nvSpPr>
        <p:spPr>
          <a:xfrm>
            <a:off x="159554" y="760808"/>
            <a:ext cx="552032" cy="550404"/>
          </a:xfrm>
          <a:prstGeom prst="ellipse">
            <a:avLst/>
          </a:prstGeom>
          <a:solidFill>
            <a:srgbClr val="FFFFFF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6858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7E93A7"/>
              </a:solidFill>
              <a:effectLst/>
              <a:uLnTx/>
              <a:uFillTx/>
              <a:latin typeface="Trebuchet MS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57C21821-6331-561A-CFED-CB1A6DA0A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7" y="888338"/>
            <a:ext cx="399414" cy="276172"/>
          </a:xfrm>
          <a:prstGeom prst="rect">
            <a:avLst/>
          </a:prstGeom>
        </p:spPr>
      </p:pic>
      <p:sp>
        <p:nvSpPr>
          <p:cNvPr id="40" name="Oval 60">
            <a:extLst>
              <a:ext uri="{FF2B5EF4-FFF2-40B4-BE49-F238E27FC236}">
                <a16:creationId xmlns:a16="http://schemas.microsoft.com/office/drawing/2014/main" id="{B8FA13F5-C49D-E412-35D3-BC764000C138}"/>
              </a:ext>
            </a:extLst>
          </p:cNvPr>
          <p:cNvSpPr>
            <a:spLocks noChangeAspect="1"/>
          </p:cNvSpPr>
          <p:nvPr/>
        </p:nvSpPr>
        <p:spPr>
          <a:xfrm>
            <a:off x="4600173" y="728098"/>
            <a:ext cx="552032" cy="550404"/>
          </a:xfrm>
          <a:prstGeom prst="ellipse">
            <a:avLst/>
          </a:prstGeom>
          <a:solidFill>
            <a:srgbClr val="FFFFFF"/>
          </a:solidFill>
          <a:ln w="9525" cap="flat" cmpd="sng" algn="ctr">
            <a:gradFill flip="none" rotWithShape="1">
              <a:gsLst>
                <a:gs pos="0">
                  <a:srgbClr val="88ADC1"/>
                </a:gs>
                <a:gs pos="100000">
                  <a:srgbClr val="7E93A7"/>
                </a:gs>
              </a:gsLst>
              <a:lin ang="27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6858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7E93A7"/>
              </a:solidFill>
              <a:effectLst/>
              <a:uLnTx/>
              <a:uFillTx/>
              <a:latin typeface="Trebuchet MS"/>
            </a:endParaRP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AB2EAE99-DACE-3C59-9E6C-8B149C610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696" y="842781"/>
            <a:ext cx="358986" cy="35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9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6828" y="1785534"/>
            <a:ext cx="8399402" cy="912270"/>
          </a:xfrm>
        </p:spPr>
        <p:txBody>
          <a:bodyPr/>
          <a:lstStyle/>
          <a:p>
            <a:r>
              <a:rPr lang="fr-FR" sz="2800" dirty="0"/>
              <a:t>3. Temps forts et panorama des actions 2026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236B88-FC48-BE1A-B619-0D81F658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77" y="2751699"/>
            <a:ext cx="1679686" cy="167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614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9BE7-2C41-318E-74CF-11321B62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9790DD2-7AEF-B1D2-7267-0BC9861B1667}"/>
              </a:ext>
            </a:extLst>
          </p:cNvPr>
          <p:cNvSpPr/>
          <p:nvPr/>
        </p:nvSpPr>
        <p:spPr>
          <a:xfrm>
            <a:off x="3657600" y="4820987"/>
            <a:ext cx="2301240" cy="315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A21F597-8046-C3A6-ACAA-CBC532C1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31" y="146724"/>
            <a:ext cx="7838440" cy="447895"/>
          </a:xfrm>
        </p:spPr>
        <p:txBody>
          <a:bodyPr/>
          <a:lstStyle/>
          <a:p>
            <a:r>
              <a:rPr lang="fr-FR" sz="2200" dirty="0"/>
              <a:t>3. Temps forts et panorama des actions 2026</a:t>
            </a:r>
          </a:p>
        </p:txBody>
      </p:sp>
      <p:sp>
        <p:nvSpPr>
          <p:cNvPr id="54" name="Rectangle : avec coins arrondis en haut 53">
            <a:extLst>
              <a:ext uri="{FF2B5EF4-FFF2-40B4-BE49-F238E27FC236}">
                <a16:creationId xmlns:a16="http://schemas.microsoft.com/office/drawing/2014/main" id="{0E6E6F6C-6D02-AEFB-8054-7F0F92BB0A5E}"/>
              </a:ext>
            </a:extLst>
          </p:cNvPr>
          <p:cNvSpPr/>
          <p:nvPr/>
        </p:nvSpPr>
        <p:spPr>
          <a:xfrm rot="10800000">
            <a:off x="308613" y="1309540"/>
            <a:ext cx="2080288" cy="594465"/>
          </a:xfrm>
          <a:prstGeom prst="round2Same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Rectangle : avec coins arrondis en haut 54">
            <a:extLst>
              <a:ext uri="{FF2B5EF4-FFF2-40B4-BE49-F238E27FC236}">
                <a16:creationId xmlns:a16="http://schemas.microsoft.com/office/drawing/2014/main" id="{373378FE-A556-9EC8-3C74-A2000B5AE135}"/>
              </a:ext>
            </a:extLst>
          </p:cNvPr>
          <p:cNvSpPr/>
          <p:nvPr/>
        </p:nvSpPr>
        <p:spPr>
          <a:xfrm rot="10800000">
            <a:off x="2483945" y="1314871"/>
            <a:ext cx="2080900" cy="604839"/>
          </a:xfrm>
          <a:prstGeom prst="round2Same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0B93B2D-A34A-0856-DFF5-CBCA077F1613}"/>
              </a:ext>
            </a:extLst>
          </p:cNvPr>
          <p:cNvSpPr/>
          <p:nvPr/>
        </p:nvSpPr>
        <p:spPr>
          <a:xfrm>
            <a:off x="308171" y="1030633"/>
            <a:ext cx="2090758" cy="28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MARS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EEB653D-0445-6B8D-069D-A986EE2A7786}"/>
              </a:ext>
            </a:extLst>
          </p:cNvPr>
          <p:cNvSpPr/>
          <p:nvPr/>
        </p:nvSpPr>
        <p:spPr>
          <a:xfrm>
            <a:off x="2481242" y="1030507"/>
            <a:ext cx="2090758" cy="28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AVRIL</a:t>
            </a:r>
          </a:p>
        </p:txBody>
      </p:sp>
      <p:sp>
        <p:nvSpPr>
          <p:cNvPr id="63" name="Rectangle : avec coins arrondis en haut 62">
            <a:extLst>
              <a:ext uri="{FF2B5EF4-FFF2-40B4-BE49-F238E27FC236}">
                <a16:creationId xmlns:a16="http://schemas.microsoft.com/office/drawing/2014/main" id="{FA4A2E9C-6918-3B9C-F07F-F5FE6295C16D}"/>
              </a:ext>
            </a:extLst>
          </p:cNvPr>
          <p:cNvSpPr/>
          <p:nvPr/>
        </p:nvSpPr>
        <p:spPr>
          <a:xfrm rot="10800000">
            <a:off x="6847272" y="1293809"/>
            <a:ext cx="2080900" cy="664408"/>
          </a:xfrm>
          <a:prstGeom prst="round2Same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E625028-D72F-3790-CFD0-5D1E50F94BE8}"/>
              </a:ext>
            </a:extLst>
          </p:cNvPr>
          <p:cNvSpPr/>
          <p:nvPr/>
        </p:nvSpPr>
        <p:spPr>
          <a:xfrm>
            <a:off x="6845034" y="1040382"/>
            <a:ext cx="2098878" cy="309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JUILLET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C419BA09-F639-EBB5-5981-3D2C218003FC}"/>
              </a:ext>
            </a:extLst>
          </p:cNvPr>
          <p:cNvSpPr txBox="1"/>
          <p:nvPr/>
        </p:nvSpPr>
        <p:spPr>
          <a:xfrm>
            <a:off x="291170" y="1350008"/>
            <a:ext cx="20032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Semaine de la Mixité (dont journée internationale des droits des femmes)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9DCBE5C8-89CA-FD54-5AD0-65F2A189459E}"/>
              </a:ext>
            </a:extLst>
          </p:cNvPr>
          <p:cNvSpPr txBox="1"/>
          <p:nvPr/>
        </p:nvSpPr>
        <p:spPr>
          <a:xfrm>
            <a:off x="4690845" y="1342447"/>
            <a:ext cx="2003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Semaine de la QVCT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7DEEE4D2-ECA4-B6C1-2CB6-C6A63097B16B}"/>
              </a:ext>
            </a:extLst>
          </p:cNvPr>
          <p:cNvSpPr txBox="1"/>
          <p:nvPr/>
        </p:nvSpPr>
        <p:spPr>
          <a:xfrm>
            <a:off x="6714632" y="1338825"/>
            <a:ext cx="2003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>
                <a:solidFill>
                  <a:schemeClr val="tx2"/>
                </a:solidFill>
              </a:rPr>
              <a:t>Lancement de Be </a:t>
            </a:r>
            <a:r>
              <a:rPr lang="fr-FR" sz="1000" b="1" dirty="0" err="1">
                <a:solidFill>
                  <a:schemeClr val="tx2"/>
                </a:solidFill>
              </a:rPr>
              <a:t>Generous</a:t>
            </a:r>
            <a:endParaRPr lang="fr-FR" sz="1000" b="1" dirty="0">
              <a:solidFill>
                <a:schemeClr val="tx2"/>
              </a:solidFill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DE1D42DC-03BF-B20F-BEDE-E184D2B075BF}"/>
              </a:ext>
            </a:extLst>
          </p:cNvPr>
          <p:cNvSpPr txBox="1"/>
          <p:nvPr/>
        </p:nvSpPr>
        <p:spPr>
          <a:xfrm>
            <a:off x="356935" y="2335035"/>
            <a:ext cx="2003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Mois de la parentalité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7030C68A-ED0C-3B57-EA9E-B626EC909295}"/>
              </a:ext>
            </a:extLst>
          </p:cNvPr>
          <p:cNvSpPr txBox="1"/>
          <p:nvPr/>
        </p:nvSpPr>
        <p:spPr>
          <a:xfrm>
            <a:off x="2513402" y="2316501"/>
            <a:ext cx="2003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Octobre Rose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D2FE04F1-7E1A-A15B-8A76-8D486B4372BE}"/>
              </a:ext>
            </a:extLst>
          </p:cNvPr>
          <p:cNvSpPr txBox="1"/>
          <p:nvPr/>
        </p:nvSpPr>
        <p:spPr>
          <a:xfrm>
            <a:off x="4647421" y="2312917"/>
            <a:ext cx="20032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chemeClr val="tx2"/>
                </a:solidFill>
              </a:rPr>
              <a:t>Novembre bleu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chemeClr val="tx2"/>
                </a:solidFill>
              </a:rPr>
              <a:t>Mois des Diversités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chemeClr val="tx2"/>
                </a:solidFill>
              </a:rPr>
              <a:t>Clôture de Be </a:t>
            </a:r>
            <a:r>
              <a:rPr lang="fr-FR" sz="1000" b="1" dirty="0" err="1">
                <a:solidFill>
                  <a:schemeClr val="tx2"/>
                </a:solidFill>
              </a:rPr>
              <a:t>Generous</a:t>
            </a:r>
            <a:endParaRPr lang="fr-FR" sz="1000" b="1" dirty="0">
              <a:solidFill>
                <a:schemeClr val="tx2"/>
              </a:solidFill>
            </a:endParaRPr>
          </a:p>
        </p:txBody>
      </p:sp>
      <p:pic>
        <p:nvPicPr>
          <p:cNvPr id="85" name="Image 84">
            <a:extLst>
              <a:ext uri="{FF2B5EF4-FFF2-40B4-BE49-F238E27FC236}">
                <a16:creationId xmlns:a16="http://schemas.microsoft.com/office/drawing/2014/main" id="{5EC930D6-D2E4-2A68-40AC-18FA09772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03" y="1569953"/>
            <a:ext cx="289747" cy="289181"/>
          </a:xfrm>
          <a:prstGeom prst="rect">
            <a:avLst/>
          </a:prstGeom>
        </p:spPr>
      </p:pic>
      <p:pic>
        <p:nvPicPr>
          <p:cNvPr id="86" name="Image 85">
            <a:extLst>
              <a:ext uri="{FF2B5EF4-FFF2-40B4-BE49-F238E27FC236}">
                <a16:creationId xmlns:a16="http://schemas.microsoft.com/office/drawing/2014/main" id="{E71C5DB5-7482-997C-D51F-91710B808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690" y="1587667"/>
            <a:ext cx="285922" cy="315476"/>
          </a:xfrm>
          <a:prstGeom prst="rect">
            <a:avLst/>
          </a:prstGeom>
        </p:spPr>
      </p:pic>
      <p:pic>
        <p:nvPicPr>
          <p:cNvPr id="87" name="Image 86">
            <a:extLst>
              <a:ext uri="{FF2B5EF4-FFF2-40B4-BE49-F238E27FC236}">
                <a16:creationId xmlns:a16="http://schemas.microsoft.com/office/drawing/2014/main" id="{0F85F7B6-1BBD-2C4C-3B92-1CD9F9E54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119" y="2562722"/>
            <a:ext cx="320546" cy="341166"/>
          </a:xfrm>
          <a:prstGeom prst="rect">
            <a:avLst/>
          </a:prstGeom>
        </p:spPr>
      </p:pic>
      <p:pic>
        <p:nvPicPr>
          <p:cNvPr id="88" name="Image 87">
            <a:extLst>
              <a:ext uri="{FF2B5EF4-FFF2-40B4-BE49-F238E27FC236}">
                <a16:creationId xmlns:a16="http://schemas.microsoft.com/office/drawing/2014/main" id="{E62CA151-F5BB-7F25-208D-125A39B5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109" y="2319795"/>
            <a:ext cx="183494" cy="195298"/>
          </a:xfrm>
          <a:prstGeom prst="rect">
            <a:avLst/>
          </a:prstGeom>
        </p:spPr>
      </p:pic>
      <p:pic>
        <p:nvPicPr>
          <p:cNvPr id="89" name="Image 88">
            <a:extLst>
              <a:ext uri="{FF2B5EF4-FFF2-40B4-BE49-F238E27FC236}">
                <a16:creationId xmlns:a16="http://schemas.microsoft.com/office/drawing/2014/main" id="{DB56781C-32F9-DAA6-5E68-C15D05FEB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044" y="2571238"/>
            <a:ext cx="429709" cy="276172"/>
          </a:xfrm>
          <a:prstGeom prst="rect">
            <a:avLst/>
          </a:prstGeom>
        </p:spPr>
      </p:pic>
      <p:pic>
        <p:nvPicPr>
          <p:cNvPr id="90" name="Image 89">
            <a:extLst>
              <a:ext uri="{FF2B5EF4-FFF2-40B4-BE49-F238E27FC236}">
                <a16:creationId xmlns:a16="http://schemas.microsoft.com/office/drawing/2014/main" id="{B267108B-1309-64AD-5771-D25AA1129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702" y="2498950"/>
            <a:ext cx="183494" cy="180962"/>
          </a:xfrm>
          <a:prstGeom prst="rect">
            <a:avLst/>
          </a:prstGeom>
        </p:spPr>
      </p:pic>
      <p:pic>
        <p:nvPicPr>
          <p:cNvPr id="91" name="Image 90">
            <a:extLst>
              <a:ext uri="{FF2B5EF4-FFF2-40B4-BE49-F238E27FC236}">
                <a16:creationId xmlns:a16="http://schemas.microsoft.com/office/drawing/2014/main" id="{8CF2BFAB-2598-FF8F-08F9-A4CE161C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195" y="2702283"/>
            <a:ext cx="195680" cy="195298"/>
          </a:xfrm>
          <a:prstGeom prst="rect">
            <a:avLst/>
          </a:prstGeom>
        </p:spPr>
      </p:pic>
      <p:pic>
        <p:nvPicPr>
          <p:cNvPr id="92" name="Image 91">
            <a:extLst>
              <a:ext uri="{FF2B5EF4-FFF2-40B4-BE49-F238E27FC236}">
                <a16:creationId xmlns:a16="http://schemas.microsoft.com/office/drawing/2014/main" id="{DA83541B-2657-22C8-2E60-52962D8CD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780" y="1569953"/>
            <a:ext cx="298296" cy="29418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95E1D7E-3629-2A7D-D0AD-5FC26C2B1ACD}"/>
              </a:ext>
            </a:extLst>
          </p:cNvPr>
          <p:cNvSpPr txBox="1"/>
          <p:nvPr/>
        </p:nvSpPr>
        <p:spPr>
          <a:xfrm>
            <a:off x="2496814" y="1348606"/>
            <a:ext cx="2003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Conférences retraite (dates à confirmer</a:t>
            </a:r>
          </a:p>
        </p:txBody>
      </p:sp>
      <p:sp>
        <p:nvSpPr>
          <p:cNvPr id="10" name="Rectangle : avec coins arrondis en haut 9">
            <a:extLst>
              <a:ext uri="{FF2B5EF4-FFF2-40B4-BE49-F238E27FC236}">
                <a16:creationId xmlns:a16="http://schemas.microsoft.com/office/drawing/2014/main" id="{9E357064-3D2C-EC2A-5CFD-4B949DF11DBE}"/>
              </a:ext>
            </a:extLst>
          </p:cNvPr>
          <p:cNvSpPr/>
          <p:nvPr/>
        </p:nvSpPr>
        <p:spPr>
          <a:xfrm rot="10800000">
            <a:off x="4664743" y="1281135"/>
            <a:ext cx="2090355" cy="664407"/>
          </a:xfrm>
          <a:prstGeom prst="round2Same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E690C2B-A595-33CB-5C89-010A7BB53F76}"/>
              </a:ext>
            </a:extLst>
          </p:cNvPr>
          <p:cNvSpPr/>
          <p:nvPr/>
        </p:nvSpPr>
        <p:spPr>
          <a:xfrm>
            <a:off x="4661934" y="1027380"/>
            <a:ext cx="2098879" cy="3059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JUIN</a:t>
            </a:r>
          </a:p>
        </p:txBody>
      </p: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F9FCD097-C181-F872-E455-BCB46214AD72}"/>
              </a:ext>
            </a:extLst>
          </p:cNvPr>
          <p:cNvSpPr txBox="1">
            <a:spLocks/>
          </p:cNvSpPr>
          <p:nvPr/>
        </p:nvSpPr>
        <p:spPr>
          <a:xfrm>
            <a:off x="184767" y="2983938"/>
            <a:ext cx="8682309" cy="197649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200" b="1" dirty="0">
                <a:solidFill>
                  <a:srgbClr val="C00000"/>
                </a:solidFill>
              </a:rPr>
              <a:t>Panorama des actions 2026 </a:t>
            </a:r>
          </a:p>
          <a:p>
            <a:pPr lvl="1">
              <a:spcAft>
                <a:spcPts val="24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1000" dirty="0"/>
              <a:t>Actions de prévention de santé : dépistages auditifs, visuels, mélanome, cancers du sein, cancers masculins, diabète (à l’étude), buccodentaire (à l’étude), prévention des TMS, vaccination grippale, organisation du parcours du cœur (à l’étude), …</a:t>
            </a:r>
          </a:p>
          <a:p>
            <a:pPr lvl="1">
              <a:spcAft>
                <a:spcPts val="24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1000" dirty="0"/>
              <a:t>Communication sur les dispositifs en faveur de l’emploi des salariés expérimentés</a:t>
            </a:r>
          </a:p>
          <a:p>
            <a:pPr lvl="1">
              <a:spcAft>
                <a:spcPts val="24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1000" dirty="0"/>
              <a:t>Communication sur les dispositifs d’accompagnement des proches aidants</a:t>
            </a:r>
          </a:p>
          <a:p>
            <a:pPr lvl="1">
              <a:spcAft>
                <a:spcPts val="24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1000" dirty="0"/>
              <a:t>Communication des nouvelles dispositions de l’accord pour l’emploi des salariés en situation d’handicap.</a:t>
            </a:r>
          </a:p>
          <a:p>
            <a:pPr lvl="1">
              <a:spcAft>
                <a:spcPts val="24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1000" dirty="0"/>
              <a:t>Communication sur la mise à jour du Guide parentalité</a:t>
            </a:r>
          </a:p>
          <a:p>
            <a:pPr lvl="1">
              <a:spcAft>
                <a:spcPts val="24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1000" dirty="0"/>
              <a:t>Communication sur les mesures du prochain accord mixité, diversité &amp; QVCT</a:t>
            </a:r>
          </a:p>
          <a:p>
            <a:pPr lvl="1">
              <a:spcAft>
                <a:spcPts val="24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sz="1000" dirty="0"/>
              <a:t>Prévention mobilité douce (sécurité routière)</a:t>
            </a:r>
          </a:p>
          <a:p>
            <a:pPr marL="457200" lvl="1" indent="0">
              <a:spcAft>
                <a:spcPts val="240"/>
              </a:spcAft>
              <a:buClr>
                <a:srgbClr val="C00000"/>
              </a:buClr>
              <a:buNone/>
            </a:pPr>
            <a:endParaRPr lang="fr-FR" sz="1000" dirty="0"/>
          </a:p>
          <a:p>
            <a:pPr lvl="1">
              <a:buFont typeface="Wingdings" panose="05000000000000000000" pitchFamily="2" charset="2"/>
              <a:buChar char="Ø"/>
            </a:pPr>
            <a:endParaRPr lang="fr-FR" sz="1000" dirty="0"/>
          </a:p>
          <a:p>
            <a:pPr marL="0" indent="0">
              <a:buFont typeface="Arial" panose="020B0604020202020204" pitchFamily="34" charset="0"/>
              <a:buNone/>
            </a:pPr>
            <a:endParaRPr lang="fr-FR" sz="1000" dirty="0"/>
          </a:p>
          <a:p>
            <a:endParaRPr lang="fr-FR" sz="1000" b="1" dirty="0"/>
          </a:p>
          <a:p>
            <a:endParaRPr lang="fr-FR" sz="1000" b="1" dirty="0"/>
          </a:p>
          <a:p>
            <a:endParaRPr lang="fr-FR" sz="1000" b="1" dirty="0"/>
          </a:p>
          <a:p>
            <a:endParaRPr lang="fr-FR" sz="1000" b="1" dirty="0"/>
          </a:p>
          <a:p>
            <a:endParaRPr lang="fr-FR" sz="1000" b="1" dirty="0"/>
          </a:p>
          <a:p>
            <a:endParaRPr lang="fr-FR" sz="1000" b="1" dirty="0"/>
          </a:p>
        </p:txBody>
      </p:sp>
      <p:sp>
        <p:nvSpPr>
          <p:cNvPr id="21" name="Rectangle : avec coins arrondis en haut 20">
            <a:extLst>
              <a:ext uri="{FF2B5EF4-FFF2-40B4-BE49-F238E27FC236}">
                <a16:creationId xmlns:a16="http://schemas.microsoft.com/office/drawing/2014/main" id="{BFBB1743-E2FA-95F2-B366-1A1A592AB99A}"/>
              </a:ext>
            </a:extLst>
          </p:cNvPr>
          <p:cNvSpPr/>
          <p:nvPr/>
        </p:nvSpPr>
        <p:spPr>
          <a:xfrm rot="10800000">
            <a:off x="310819" y="2245783"/>
            <a:ext cx="2080288" cy="670945"/>
          </a:xfrm>
          <a:prstGeom prst="round2Same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9AAE88-2F09-80DE-3AED-B0A894F10A96}"/>
              </a:ext>
            </a:extLst>
          </p:cNvPr>
          <p:cNvSpPr/>
          <p:nvPr/>
        </p:nvSpPr>
        <p:spPr>
          <a:xfrm>
            <a:off x="308171" y="2001654"/>
            <a:ext cx="2090758" cy="2872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SEPTEMBRE</a:t>
            </a:r>
          </a:p>
        </p:txBody>
      </p:sp>
      <p:sp>
        <p:nvSpPr>
          <p:cNvPr id="23" name="Rectangle : avec coins arrondis en haut 22">
            <a:extLst>
              <a:ext uri="{FF2B5EF4-FFF2-40B4-BE49-F238E27FC236}">
                <a16:creationId xmlns:a16="http://schemas.microsoft.com/office/drawing/2014/main" id="{88837790-0548-2309-8A5D-F935312D8024}"/>
              </a:ext>
            </a:extLst>
          </p:cNvPr>
          <p:cNvSpPr/>
          <p:nvPr/>
        </p:nvSpPr>
        <p:spPr>
          <a:xfrm rot="10800000">
            <a:off x="2503970" y="2254442"/>
            <a:ext cx="2080288" cy="649445"/>
          </a:xfrm>
          <a:prstGeom prst="round2Same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3E40B0F-D0D1-C056-46C1-5BD4D01EC8E7}"/>
              </a:ext>
            </a:extLst>
          </p:cNvPr>
          <p:cNvSpPr/>
          <p:nvPr/>
        </p:nvSpPr>
        <p:spPr>
          <a:xfrm>
            <a:off x="2507093" y="1997003"/>
            <a:ext cx="2090758" cy="31523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OCTOBRE</a:t>
            </a:r>
          </a:p>
        </p:txBody>
      </p:sp>
      <p:sp>
        <p:nvSpPr>
          <p:cNvPr id="24" name="Rectangle : avec coins arrondis en haut 23">
            <a:extLst>
              <a:ext uri="{FF2B5EF4-FFF2-40B4-BE49-F238E27FC236}">
                <a16:creationId xmlns:a16="http://schemas.microsoft.com/office/drawing/2014/main" id="{1AE1CD44-69BE-367E-DD35-AE0A9C6C4B79}"/>
              </a:ext>
            </a:extLst>
          </p:cNvPr>
          <p:cNvSpPr/>
          <p:nvPr/>
        </p:nvSpPr>
        <p:spPr>
          <a:xfrm rot="10800000">
            <a:off x="4661014" y="2261421"/>
            <a:ext cx="2080288" cy="649445"/>
          </a:xfrm>
          <a:prstGeom prst="round2Same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A3B4A84-18E1-C82B-2306-9553A80A35F7}"/>
              </a:ext>
            </a:extLst>
          </p:cNvPr>
          <p:cNvSpPr/>
          <p:nvPr/>
        </p:nvSpPr>
        <p:spPr>
          <a:xfrm>
            <a:off x="4662436" y="2006513"/>
            <a:ext cx="2090758" cy="3057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NOVEMBRE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ED8870F-4AAA-0CF0-F8D2-CB46DF5A0F55}"/>
              </a:ext>
            </a:extLst>
          </p:cNvPr>
          <p:cNvSpPr txBox="1"/>
          <p:nvPr/>
        </p:nvSpPr>
        <p:spPr>
          <a:xfrm>
            <a:off x="291170" y="69428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C00000"/>
                </a:solidFill>
              </a:rPr>
              <a:t>Temps forts 2026 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D186F3B2-68B6-5E7D-2857-897CCC6C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232" y="1605027"/>
            <a:ext cx="289747" cy="28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346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ACEIS">
      <a:dk1>
        <a:srgbClr val="000000"/>
      </a:dk1>
      <a:lt1>
        <a:srgbClr val="FFFFFF"/>
      </a:lt1>
      <a:dk2>
        <a:srgbClr val="52575F"/>
      </a:dk2>
      <a:lt2>
        <a:srgbClr val="DCDDDF"/>
      </a:lt2>
      <a:accent1>
        <a:srgbClr val="D0131A"/>
      </a:accent1>
      <a:accent2>
        <a:srgbClr val="7E93A7"/>
      </a:accent2>
      <a:accent3>
        <a:srgbClr val="2B728A"/>
      </a:accent3>
      <a:accent4>
        <a:srgbClr val="E6F3F9"/>
      </a:accent4>
      <a:accent5>
        <a:srgbClr val="E84E0E"/>
      </a:accent5>
      <a:accent6>
        <a:srgbClr val="88ADC1"/>
      </a:accent6>
      <a:hlink>
        <a:srgbClr val="0000FF"/>
      </a:hlink>
      <a:folHlink>
        <a:srgbClr val="D5D4D4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2018-16x9-FR-USAGE-INTERNE-SIMPLIFIE" id="{3735DC42-B616-4A61-9FEE-E7929E5341CA}" vid="{2D7A36E5-D858-479D-ABAC-D33D3297FCFC}"/>
    </a:ext>
  </a:extLst>
</a:theme>
</file>

<file path=ppt/theme/theme2.xml><?xml version="1.0" encoding="utf-8"?>
<a:theme xmlns:a="http://schemas.openxmlformats.org/drawingml/2006/main" name="1_Custom Design">
  <a:themeElements>
    <a:clrScheme name="CACEIS">
      <a:dk1>
        <a:srgbClr val="000000"/>
      </a:dk1>
      <a:lt1>
        <a:srgbClr val="FFFFFF"/>
      </a:lt1>
      <a:dk2>
        <a:srgbClr val="52575F"/>
      </a:dk2>
      <a:lt2>
        <a:srgbClr val="DCDDDF"/>
      </a:lt2>
      <a:accent1>
        <a:srgbClr val="D0131A"/>
      </a:accent1>
      <a:accent2>
        <a:srgbClr val="7E93A7"/>
      </a:accent2>
      <a:accent3>
        <a:srgbClr val="2B728A"/>
      </a:accent3>
      <a:accent4>
        <a:srgbClr val="E6F3F9"/>
      </a:accent4>
      <a:accent5>
        <a:srgbClr val="E84E0E"/>
      </a:accent5>
      <a:accent6>
        <a:srgbClr val="88ADC1"/>
      </a:accent6>
      <a:hlink>
        <a:srgbClr val="0000FF"/>
      </a:hlink>
      <a:folHlink>
        <a:srgbClr val="D5D4D4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2018-16x9-FR-USAGE-INTERNE-SIMPLIFIE" id="{3735DC42-B616-4A61-9FEE-E7929E5341CA}" vid="{2D7A36E5-D858-479D-ABAC-D33D3297FCF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13A929B1F76446B85902B28B320A42" ma:contentTypeVersion="0" ma:contentTypeDescription="Create a new document." ma:contentTypeScope="" ma:versionID="75683d29b6f9d1140a9c7c1fe328141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EE4DBB-4CB1-4ECA-8DDB-C1AF4E3161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B8DE21-89D3-4886-9CFB-65F13C8E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93B92B9-612F-4996-B46A-60CAEDFE03DD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1336</Words>
  <Application>Microsoft Office PowerPoint</Application>
  <PresentationFormat>Affichage à l'écran (16:9)</PresentationFormat>
  <Paragraphs>190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21" baseType="lpstr">
      <vt:lpstr>Arial</vt:lpstr>
      <vt:lpstr>Calibri</vt:lpstr>
      <vt:lpstr>Lato</vt:lpstr>
      <vt:lpstr>Lato Courant</vt:lpstr>
      <vt:lpstr>Lato Regular</vt:lpstr>
      <vt:lpstr>Trebuchet MS</vt:lpstr>
      <vt:lpstr>Wingdings</vt:lpstr>
      <vt:lpstr>Wingdings 3</vt:lpstr>
      <vt:lpstr>Custom Design</vt:lpstr>
      <vt:lpstr>1_Custom Design</vt:lpstr>
      <vt:lpstr>QVCT et D&amp;I Bilan 2025</vt:lpstr>
      <vt:lpstr>Sommaire</vt:lpstr>
      <vt:lpstr>1. Quelques rappels sur la démarche QVCT et D&amp;I (ex-FAB’Life) </vt:lpstr>
      <vt:lpstr>Quelques rappels sur la démarche QVCT et D&amp;I (ex-FAB’Life)</vt:lpstr>
      <vt:lpstr>2. Bilan des actions 2025</vt:lpstr>
      <vt:lpstr>2. Bilan des actions 2025 en quelques chiffres</vt:lpstr>
      <vt:lpstr>2. Bilan des actions 2025</vt:lpstr>
      <vt:lpstr>2. Bilan des actions 2025</vt:lpstr>
      <vt:lpstr>2. Bilan des actions 2025</vt:lpstr>
      <vt:lpstr>3. Temps forts et panorama des actions 2026</vt:lpstr>
      <vt:lpstr>3. Temps forts et panorama des actions 2026</vt:lpstr>
    </vt:vector>
  </TitlesOfParts>
  <Company>CACEIS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MODELE</dc:title>
  <dc:creator>CACEIS</dc:creator>
  <cp:lastModifiedBy>Prugnard, Anne Sophie</cp:lastModifiedBy>
  <cp:revision>2212</cp:revision>
  <cp:lastPrinted>2025-07-21T08:42:16Z</cp:lastPrinted>
  <dcterms:created xsi:type="dcterms:W3CDTF">2015-05-25T12:45:08Z</dcterms:created>
  <dcterms:modified xsi:type="dcterms:W3CDTF">2026-01-19T08:07:36Z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0x010100CF13A929B1F76446B85902B28B320A42</vt:lpwstr>
  </property>
  <property fmtid="{D5CDD505-2E9C-101B-9397-08002B2CF9AE}" pid="3" name="MSIP_Label_74959cb2-1791-4379-ac27-73c7defdb1e7_Enabled">
    <vt:lpwstr>true</vt:lpwstr>
  </property>
  <property fmtid="{D5CDD505-2E9C-101B-9397-08002B2CF9AE}" pid="4" name="MSIP_Label_74959cb2-1791-4379-ac27-73c7defdb1e7_SetDate">
    <vt:lpwstr>2025-04-03T15:37:51Z</vt:lpwstr>
  </property>
  <property fmtid="{D5CDD505-2E9C-101B-9397-08002B2CF9AE}" pid="5" name="MSIP_Label_74959cb2-1791-4379-ac27-73c7defdb1e7_Method">
    <vt:lpwstr>Privileged</vt:lpwstr>
  </property>
  <property fmtid="{D5CDD505-2E9C-101B-9397-08002B2CF9AE}" pid="6" name="MSIP_Label_74959cb2-1791-4379-ac27-73c7defdb1e7_Name">
    <vt:lpwstr>C2-Usage Interne</vt:lpwstr>
  </property>
  <property fmtid="{D5CDD505-2E9C-101B-9397-08002B2CF9AE}" pid="7" name="MSIP_Label_74959cb2-1791-4379-ac27-73c7defdb1e7_SiteId">
    <vt:lpwstr>fb3baf17-c313-474c-8d5d-577a3ec97a32</vt:lpwstr>
  </property>
  <property fmtid="{D5CDD505-2E9C-101B-9397-08002B2CF9AE}" pid="8" name="MSIP_Label_74959cb2-1791-4379-ac27-73c7defdb1e7_ActionId">
    <vt:lpwstr>9ecb9aaf-5360-4011-9170-69cf8f3912f6</vt:lpwstr>
  </property>
  <property fmtid="{D5CDD505-2E9C-101B-9397-08002B2CF9AE}" pid="9" name="MSIP_Label_74959cb2-1791-4379-ac27-73c7defdb1e7_ContentBits">
    <vt:lpwstr>2</vt:lpwstr>
  </property>
</Properties>
</file>